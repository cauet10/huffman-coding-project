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1" r:id="rId10"/>
    <p:sldId id="264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B34A-5143-40BF-AE2D-0B240223559E}" v="659" dt="2026-10-19T01:56:41.387"/>
    <p1510:client id="{1CD74CC5-893A-4600-A389-43BDE654B01C}" v="67" dt="2026-10-19T01:58:14.350"/>
    <p1510:client id="{3DEAFB3E-26B0-4C9A-8902-68BD6C98F248}" v="1169" dt="2026-10-19T01:30:04.357"/>
    <p1510:client id="{575A95A8-9857-4931-B194-F70A93054308}" v="1492" dt="2026-10-19T18:31:58.096"/>
    <p1510:client id="{E337A232-D0B7-477E-B540-5F9B82E8316B}" v="71" dt="2026-10-20T03:47:49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lzs@ic.ufal.br" TargetMode="External"/><Relationship Id="rId2" Type="http://schemas.openxmlformats.org/officeDocument/2006/relationships/hyperlink" Target="mailto:cna@ic.ufal.b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mailto:tlsb@ic.ufa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63398" y="3022772"/>
            <a:ext cx="6665205" cy="808515"/>
          </a:xfrm>
        </p:spPr>
        <p:txBody>
          <a:bodyPr>
            <a:normAutofit fontScale="90000"/>
          </a:bodyPr>
          <a:lstStyle/>
          <a:p>
            <a:r>
              <a:rPr lang="de-DE" sz="3600" b="1" err="1"/>
              <a:t>Estruturas</a:t>
            </a:r>
            <a:r>
              <a:rPr lang="de-DE" sz="3600" b="1"/>
              <a:t> de Dados / </a:t>
            </a:r>
            <a:r>
              <a:rPr lang="de-DE" sz="3600" b="1" err="1"/>
              <a:t>Programação</a:t>
            </a:r>
            <a:r>
              <a:rPr lang="de-DE" sz="3600" b="1"/>
              <a:t> 2</a:t>
            </a:r>
            <a:br>
              <a:rPr lang="de-DE" sz="3600" b="1"/>
            </a:br>
            <a:r>
              <a:rPr lang="de-DE" sz="3600" b="1"/>
              <a:t>Seminário Huffman Coding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4468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/>
              <a:t>Cauet Nogueira</a:t>
            </a:r>
            <a:br>
              <a:rPr lang="de-DE" b="1"/>
            </a:br>
            <a:r>
              <a:rPr lang="de-DE" b="1"/>
              <a:t>Gabriela Lira</a:t>
            </a:r>
            <a:br>
              <a:rPr lang="de-DE" b="1"/>
            </a:br>
            <a:r>
              <a:rPr lang="de-DE" b="1"/>
              <a:t>Terence Luan</a:t>
            </a:r>
            <a:br>
              <a:rPr lang="de-DE" sz="2800"/>
            </a:br>
            <a:r>
              <a:rPr lang="de-DE" sz="2000">
                <a:hlinkClick r:id="rId2"/>
              </a:rPr>
              <a:t>cna@ic.ufal.br</a:t>
            </a:r>
            <a:r>
              <a:rPr lang="de-DE" sz="2000"/>
              <a:t>, </a:t>
            </a:r>
            <a:r>
              <a:rPr lang="de-DE" sz="2000">
                <a:hlinkClick r:id="rId3"/>
              </a:rPr>
              <a:t>glzs@ic.ufal.br</a:t>
            </a:r>
            <a:r>
              <a:rPr lang="de-DE" sz="2000"/>
              <a:t>, </a:t>
            </a:r>
            <a:r>
              <a:rPr lang="de-DE" sz="2000">
                <a:hlinkClick r:id="rId4"/>
              </a:rPr>
              <a:t>tlsb@ic.ufal.br</a:t>
            </a:r>
            <a:br>
              <a:rPr lang="de-DE" sz="2000"/>
            </a:br>
            <a:endParaRPr lang="de-DE" sz="20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FF2764-DB5C-B6DF-00DE-66FD0B840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738" y="2582"/>
            <a:ext cx="3868526" cy="22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DED0B-D9D7-06EA-95EC-BA4AC306C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3125119" cy="1325563"/>
          </a:xfrm>
        </p:spPr>
        <p:txBody>
          <a:bodyPr/>
          <a:lstStyle/>
          <a:p>
            <a:r>
              <a:rPr lang="pt-BR" sz="2800" b="1"/>
              <a:t>A* </a:t>
            </a:r>
            <a:r>
              <a:rPr lang="pt-BR" sz="2800" b="1" err="1"/>
              <a:t>Algorithm</a:t>
            </a:r>
            <a:endParaRPr lang="pt-BR" sz="28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C6905-3615-EFB4-2775-2C6EB22B3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171545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pt-BR" dirty="0"/>
              <a:t>É um algoritmo de busca que encontra o menor caminho entre </a:t>
            </a:r>
            <a:r>
              <a:rPr lang="pt-BR"/>
              <a:t>o nó</a:t>
            </a:r>
            <a:r>
              <a:rPr lang="pt-BR" dirty="0"/>
              <a:t> inicial e o nó objetivo.</a:t>
            </a:r>
          </a:p>
          <a:p>
            <a:pPr marL="457200" indent="-457200"/>
            <a:endParaRPr lang="pt-BR"/>
          </a:p>
          <a:p>
            <a:pPr marL="457200" indent="-457200"/>
            <a:r>
              <a:rPr lang="pt-BR" dirty="0"/>
              <a:t>Ele usa </a:t>
            </a:r>
            <a:r>
              <a:rPr lang="pt-BR"/>
              <a:t>três funções para fazer decisões</a:t>
            </a:r>
            <a:r>
              <a:rPr lang="pt-BR" dirty="0"/>
              <a:t>.</a:t>
            </a:r>
          </a:p>
          <a:p>
            <a:pPr marL="457200" indent="-457200"/>
            <a:endParaRPr lang="pt-BR"/>
          </a:p>
          <a:p>
            <a:pPr marL="457200" indent="-457200"/>
            <a:r>
              <a:rPr lang="pt-BR" dirty="0"/>
              <a:t>É uma combinação do Algoritmo </a:t>
            </a:r>
            <a:r>
              <a:rPr lang="pt-BR" dirty="0" err="1"/>
              <a:t>Dijkstra</a:t>
            </a:r>
            <a:r>
              <a:rPr lang="pt-BR" dirty="0"/>
              <a:t> e o Melhor Primeira Busca (BFS).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F99614E6-456F-4FB3-4F6E-4F64478FE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83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2191-300F-0E8E-8624-33C879D7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65B7D-BBAF-80FA-191F-D868186F2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4162540" cy="1325563"/>
          </a:xfrm>
        </p:spPr>
        <p:txBody>
          <a:bodyPr/>
          <a:lstStyle/>
          <a:p>
            <a:r>
              <a:rPr lang="pt-BR" sz="2800" b="1"/>
              <a:t>Como o A* faz decisões: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357641-DD9F-34CE-8E14-7AA5F2EF3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171545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r>
              <a:rPr lang="pt-BR"/>
              <a:t>f(n) = g(n) + h(n) : Custo total estimado do início até o objetivo</a:t>
            </a:r>
            <a:r>
              <a:rPr lang="pt-BR" dirty="0"/>
              <a:t>.</a:t>
            </a:r>
          </a:p>
          <a:p>
            <a:pPr>
              <a:buFont typeface="Arial"/>
            </a:pPr>
            <a:endParaRPr lang="pt-BR"/>
          </a:p>
          <a:p>
            <a:pPr>
              <a:buFont typeface="Arial"/>
            </a:pPr>
            <a:r>
              <a:rPr lang="pt-BR" dirty="0"/>
              <a:t>g(n) : Custo real do </a:t>
            </a:r>
            <a:r>
              <a:rPr lang="pt-BR"/>
              <a:t>início</a:t>
            </a:r>
            <a:r>
              <a:rPr lang="pt-BR" dirty="0"/>
              <a:t> até o nó atual.</a:t>
            </a:r>
          </a:p>
          <a:p>
            <a:pPr>
              <a:buFont typeface="Arial"/>
            </a:pPr>
            <a:endParaRPr lang="pt-BR"/>
          </a:p>
          <a:p>
            <a:pPr>
              <a:buFont typeface="Arial"/>
            </a:pPr>
            <a:r>
              <a:rPr lang="pt-BR" dirty="0"/>
              <a:t>h(n) : Custo estimado do nó atual até o </a:t>
            </a:r>
            <a:r>
              <a:rPr lang="pt-BR"/>
              <a:t>objetivo.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5C7452CE-BFC2-42AB-5CBD-7F43D08E3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6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AB027-9868-BBE2-4DD4-5A934BC2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17F2F-56FF-E408-A74E-C98B5CF3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3297647" cy="1325563"/>
          </a:xfrm>
        </p:spPr>
        <p:txBody>
          <a:bodyPr/>
          <a:lstStyle/>
          <a:p>
            <a:r>
              <a:rPr lang="pt-BR" sz="2800" b="1"/>
              <a:t>Como o A* funciona</a:t>
            </a:r>
            <a:r>
              <a:rPr lang="pt-BR" sz="2800" b="1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41A66C-2A3A-3378-F732-4856B4168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171545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pt-BR" dirty="0"/>
              <a:t>Ele calcula o custo real para chegar ao nó atual por meio da </a:t>
            </a:r>
            <a:r>
              <a:rPr lang="pt-BR"/>
              <a:t>soma dos pesos das arestas.</a:t>
            </a:r>
          </a:p>
          <a:p>
            <a:pPr marL="457200" indent="-457200"/>
            <a:endParaRPr lang="pt-BR"/>
          </a:p>
          <a:p>
            <a:pPr marL="457200" indent="-457200"/>
            <a:r>
              <a:rPr lang="pt-BR" dirty="0"/>
              <a:t>Então ele calcula a distância </a:t>
            </a:r>
            <a:r>
              <a:rPr lang="pt-BR"/>
              <a:t>heurística</a:t>
            </a:r>
            <a:r>
              <a:rPr lang="pt-BR" dirty="0"/>
              <a:t> entre o nó atual e o nó objetivo.</a:t>
            </a:r>
          </a:p>
          <a:p>
            <a:pPr marL="457200" indent="-457200"/>
            <a:endParaRPr lang="pt-BR"/>
          </a:p>
          <a:p>
            <a:pPr marL="457200" indent="-457200"/>
            <a:r>
              <a:rPr lang="pt-BR" dirty="0"/>
              <a:t>Então, ele soma ambos resultados, re</a:t>
            </a:r>
            <a:r>
              <a:rPr lang="pt-BR"/>
              <a:t>sultando no custo estimado total</a:t>
            </a:r>
            <a:r>
              <a:rPr lang="pt-BR" dirty="0"/>
              <a:t>.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0AFCE92A-17E8-FB3A-FA0E-A46427631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9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F158-C4D2-C777-FF39-300CCDFE2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A8F66-D795-04E4-55EB-1CD2F5C2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5255046" cy="1325563"/>
          </a:xfrm>
        </p:spPr>
        <p:txBody>
          <a:bodyPr/>
          <a:lstStyle/>
          <a:p>
            <a:r>
              <a:rPr lang="pt-BR" sz="2800" b="1"/>
              <a:t>Código do A*: 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AD0B0AEA-4094-3DB2-0357-A86D187AC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C54F2FB-9929-CD22-D8E7-FD4D03882FC3}"/>
              </a:ext>
            </a:extLst>
          </p:cNvPr>
          <p:cNvSpPr txBox="1"/>
          <p:nvPr/>
        </p:nvSpPr>
        <p:spPr>
          <a:xfrm>
            <a:off x="4893325" y="1143000"/>
            <a:ext cx="609600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err="1"/>
              <a:t>typedef</a:t>
            </a:r>
            <a:r>
              <a:rPr lang="pt-BR" sz="1600" b="1"/>
              <a:t> </a:t>
            </a:r>
            <a:r>
              <a:rPr lang="pt-BR" sz="1600" b="1" err="1"/>
              <a:t>struct</a:t>
            </a:r>
            <a:r>
              <a:rPr lang="pt-BR" sz="1600"/>
              <a:t> </a:t>
            </a:r>
            <a:br>
              <a:rPr lang="pt-BR" sz="1600"/>
            </a:br>
            <a:r>
              <a:rPr lang="pt-BR" sz="1600"/>
              <a:t>{</a:t>
            </a:r>
            <a:br>
              <a:rPr lang="pt-BR" sz="1600"/>
            </a:br>
            <a:r>
              <a:rPr lang="pt-BR" sz="1600"/>
              <a:t>     </a:t>
            </a:r>
            <a:r>
              <a:rPr lang="pt-BR" sz="1600" b="1" err="1"/>
              <a:t>double</a:t>
            </a:r>
            <a:r>
              <a:rPr lang="pt-BR" sz="1600"/>
              <a:t> f;</a:t>
            </a:r>
            <a:br>
              <a:rPr lang="pt-BR" sz="1600"/>
            </a:br>
            <a:r>
              <a:rPr lang="pt-BR" sz="1600"/>
              <a:t>     </a:t>
            </a:r>
            <a:r>
              <a:rPr lang="pt-BR" sz="1600" b="1" err="1"/>
              <a:t>int</a:t>
            </a:r>
            <a:r>
              <a:rPr lang="pt-BR" sz="1600"/>
              <a:t> index;</a:t>
            </a:r>
            <a:br>
              <a:rPr lang="pt-BR" sz="1600"/>
            </a:br>
            <a:r>
              <a:rPr lang="pt-BR" sz="1600"/>
              <a:t>}</a:t>
            </a:r>
            <a:r>
              <a:rPr lang="pt-BR" sz="1600" b="1" err="1"/>
              <a:t>heap_entry</a:t>
            </a:r>
            <a:r>
              <a:rPr lang="pt-BR" sz="1600"/>
              <a:t>;</a:t>
            </a:r>
            <a:br>
              <a:rPr lang="pt-BR" sz="1600"/>
            </a:br>
            <a:br>
              <a:rPr lang="pt-BR" sz="1600"/>
            </a:br>
            <a:r>
              <a:rPr lang="pt-BR" sz="1600" err="1"/>
              <a:t>typedef</a:t>
            </a:r>
            <a:r>
              <a:rPr lang="pt-BR" sz="1600"/>
              <a:t> </a:t>
            </a:r>
            <a:r>
              <a:rPr lang="pt-BR" sz="1600" b="1" err="1"/>
              <a:t>struct</a:t>
            </a:r>
            <a:br>
              <a:rPr lang="pt-BR" sz="1600"/>
            </a:br>
            <a:r>
              <a:rPr lang="pt-BR" sz="1600"/>
              <a:t>{</a:t>
            </a:r>
            <a:br>
              <a:rPr lang="pt-BR" sz="1600"/>
            </a:br>
            <a:r>
              <a:rPr lang="pt-BR" sz="1600"/>
              <a:t>      </a:t>
            </a:r>
            <a:r>
              <a:rPr lang="pt-BR" sz="1600" b="1" err="1"/>
              <a:t>heap_entry</a:t>
            </a:r>
            <a:r>
              <a:rPr lang="pt-BR" sz="1600"/>
              <a:t> *data;</a:t>
            </a:r>
            <a:br>
              <a:rPr lang="pt-BR" sz="1600"/>
            </a:br>
            <a:r>
              <a:rPr lang="pt-BR" sz="1600"/>
              <a:t>     </a:t>
            </a:r>
            <a:r>
              <a:rPr lang="pt-BR" sz="1600" b="1"/>
              <a:t> </a:t>
            </a:r>
            <a:r>
              <a:rPr lang="pt-BR" sz="1600" b="1" err="1"/>
              <a:t>int</a:t>
            </a:r>
            <a:r>
              <a:rPr lang="pt-BR" sz="1600"/>
              <a:t> </a:t>
            </a:r>
            <a:r>
              <a:rPr lang="pt-BR" sz="1600" err="1"/>
              <a:t>size</a:t>
            </a:r>
            <a:r>
              <a:rPr lang="pt-BR" sz="1600"/>
              <a:t>;</a:t>
            </a:r>
            <a:br>
              <a:rPr lang="pt-BR" sz="1600"/>
            </a:br>
            <a:r>
              <a:rPr lang="pt-BR" sz="1600"/>
              <a:t>      </a:t>
            </a:r>
            <a:r>
              <a:rPr lang="pt-BR" sz="1600" b="1" err="1"/>
              <a:t>int</a:t>
            </a:r>
            <a:r>
              <a:rPr lang="pt-BR" sz="1600"/>
              <a:t> </a:t>
            </a:r>
            <a:r>
              <a:rPr lang="pt-BR" sz="1600" err="1"/>
              <a:t>capacity</a:t>
            </a:r>
            <a:r>
              <a:rPr lang="pt-BR" sz="1600"/>
              <a:t>;</a:t>
            </a:r>
            <a:br>
              <a:rPr lang="pt-BR" sz="1600"/>
            </a:br>
            <a:r>
              <a:rPr lang="pt-BR" sz="1600"/>
              <a:t>}</a:t>
            </a:r>
            <a:r>
              <a:rPr lang="pt-BR" sz="1600" b="1" err="1"/>
              <a:t>min_heap</a:t>
            </a:r>
            <a:r>
              <a:rPr lang="pt-BR" sz="1600"/>
              <a:t>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6959D4-2089-BC77-2B03-591B9EAB2E7A}"/>
              </a:ext>
            </a:extLst>
          </p:cNvPr>
          <p:cNvSpPr txBox="1"/>
          <p:nvPr/>
        </p:nvSpPr>
        <p:spPr>
          <a:xfrm>
            <a:off x="365900" y="1153871"/>
            <a:ext cx="4531894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err="1"/>
              <a:t>typedef</a:t>
            </a:r>
            <a:r>
              <a:rPr lang="pt-BR" sz="1600" b="1"/>
              <a:t> </a:t>
            </a:r>
            <a:r>
              <a:rPr lang="pt-BR" sz="1600" b="1" err="1"/>
              <a:t>struct</a:t>
            </a:r>
            <a:br>
              <a:rPr lang="pt-BR" sz="1600"/>
            </a:br>
            <a:r>
              <a:rPr lang="pt-BR" sz="1600"/>
              <a:t>{</a:t>
            </a:r>
            <a:br>
              <a:rPr lang="pt-BR" sz="1600"/>
            </a:br>
            <a:r>
              <a:rPr lang="pt-BR" sz="1600"/>
              <a:t>       </a:t>
            </a:r>
            <a:r>
              <a:rPr lang="pt-BR" sz="1600" b="1" err="1"/>
              <a:t>int</a:t>
            </a:r>
            <a:r>
              <a:rPr lang="pt-BR" sz="1600"/>
              <a:t> x;</a:t>
            </a:r>
            <a:br>
              <a:rPr lang="pt-BR" sz="1600"/>
            </a:br>
            <a:r>
              <a:rPr lang="pt-BR" sz="1600"/>
              <a:t>       </a:t>
            </a:r>
            <a:r>
              <a:rPr lang="pt-BR" sz="1600" b="1" err="1"/>
              <a:t>int</a:t>
            </a:r>
            <a:r>
              <a:rPr lang="pt-BR" sz="1600"/>
              <a:t> y;</a:t>
            </a:r>
            <a:br>
              <a:rPr lang="pt-BR" sz="1600"/>
            </a:br>
            <a:r>
              <a:rPr lang="pt-BR" sz="1600"/>
              <a:t>}</a:t>
            </a:r>
            <a:r>
              <a:rPr lang="pt-BR" sz="1600" b="1"/>
              <a:t>Position</a:t>
            </a:r>
            <a:r>
              <a:rPr lang="pt-BR" sz="1600"/>
              <a:t>;</a:t>
            </a:r>
            <a:br>
              <a:rPr lang="pt-BR" sz="1600"/>
            </a:br>
            <a:br>
              <a:rPr lang="pt-BR" sz="1600"/>
            </a:br>
            <a:r>
              <a:rPr lang="pt-BR" sz="1600" err="1"/>
              <a:t>typedef</a:t>
            </a:r>
            <a:r>
              <a:rPr lang="pt-BR" sz="1600" b="1"/>
              <a:t> enum </a:t>
            </a:r>
            <a:br>
              <a:rPr lang="pt-BR" sz="1600"/>
            </a:br>
            <a:r>
              <a:rPr lang="pt-BR" sz="1600"/>
              <a:t>{</a:t>
            </a:r>
            <a:br>
              <a:rPr lang="pt-BR" sz="1600"/>
            </a:br>
            <a:r>
              <a:rPr lang="pt-BR" sz="1600"/>
              <a:t>       </a:t>
            </a:r>
            <a:r>
              <a:rPr lang="pt-BR" sz="1600" err="1"/>
              <a:t>node_unseen</a:t>
            </a:r>
            <a:r>
              <a:rPr lang="pt-BR" sz="1600"/>
              <a:t> = 0,</a:t>
            </a:r>
            <a:br>
              <a:rPr lang="en-US" sz="1600"/>
            </a:br>
            <a:r>
              <a:rPr lang="pt-BR" sz="1600"/>
              <a:t>       </a:t>
            </a:r>
            <a:r>
              <a:rPr lang="pt-BR" sz="1600" err="1"/>
              <a:t>node_open</a:t>
            </a:r>
            <a:r>
              <a:rPr lang="pt-BR" sz="1600"/>
              <a:t>,</a:t>
            </a:r>
            <a:br>
              <a:rPr lang="pt-BR" sz="1600"/>
            </a:br>
            <a:r>
              <a:rPr lang="pt-BR" sz="1600"/>
              <a:t>       </a:t>
            </a:r>
            <a:r>
              <a:rPr lang="pt-BR" sz="1600" err="1"/>
              <a:t>node_closed</a:t>
            </a:r>
            <a:br>
              <a:rPr lang="pt-BR" sz="1600"/>
            </a:br>
            <a:r>
              <a:rPr lang="pt-BR" sz="1600"/>
              <a:t>}</a:t>
            </a:r>
            <a:r>
              <a:rPr lang="pt-BR" sz="1600" b="1" err="1"/>
              <a:t>node_state</a:t>
            </a:r>
            <a:r>
              <a:rPr lang="pt-BR" sz="1600"/>
              <a:t>;</a:t>
            </a:r>
            <a:br>
              <a:rPr lang="pt-BR" sz="1600"/>
            </a:br>
            <a:br>
              <a:rPr lang="pt-BR" sz="1600"/>
            </a:br>
            <a:r>
              <a:rPr lang="pt-BR" sz="1600" err="1"/>
              <a:t>typedef</a:t>
            </a:r>
            <a:r>
              <a:rPr lang="pt-BR" sz="1600" b="1"/>
              <a:t> </a:t>
            </a:r>
            <a:r>
              <a:rPr lang="pt-BR" sz="1600" b="1" err="1"/>
              <a:t>struct</a:t>
            </a:r>
            <a:r>
              <a:rPr lang="pt-BR" sz="1600" b="1"/>
              <a:t> </a:t>
            </a:r>
            <a:br>
              <a:rPr lang="pt-BR" sz="1600"/>
            </a:br>
            <a:r>
              <a:rPr lang="pt-BR" sz="1600"/>
              <a:t>{</a:t>
            </a:r>
            <a:br>
              <a:rPr lang="pt-BR" sz="1600"/>
            </a:br>
            <a:r>
              <a:rPr lang="pt-BR" sz="1600"/>
              <a:t>     </a:t>
            </a:r>
            <a:r>
              <a:rPr lang="pt-BR" sz="1600" b="1"/>
              <a:t> Position</a:t>
            </a:r>
            <a:r>
              <a:rPr lang="pt-BR" sz="1600"/>
              <a:t> </a:t>
            </a:r>
            <a:r>
              <a:rPr lang="pt-BR" sz="1600" err="1"/>
              <a:t>position</a:t>
            </a:r>
            <a:r>
              <a:rPr lang="pt-BR" sz="1600"/>
              <a:t>;</a:t>
            </a:r>
            <a:br>
              <a:rPr lang="en-US" sz="1600"/>
            </a:br>
            <a:r>
              <a:rPr lang="pt-BR" sz="1600"/>
              <a:t>      </a:t>
            </a:r>
            <a:r>
              <a:rPr lang="pt-BR" sz="1600" b="1" err="1"/>
              <a:t>double</a:t>
            </a:r>
            <a:r>
              <a:rPr lang="pt-BR" sz="1600"/>
              <a:t> g;</a:t>
            </a:r>
            <a:br>
              <a:rPr lang="pt-BR" sz="1600"/>
            </a:br>
            <a:r>
              <a:rPr lang="pt-BR" sz="1600"/>
              <a:t>      </a:t>
            </a:r>
            <a:r>
              <a:rPr lang="pt-BR" sz="1600" b="1" err="1"/>
              <a:t>double</a:t>
            </a:r>
            <a:r>
              <a:rPr lang="pt-BR" sz="1600"/>
              <a:t> h;</a:t>
            </a:r>
            <a:br>
              <a:rPr lang="pt-BR" sz="1600"/>
            </a:br>
            <a:r>
              <a:rPr lang="pt-BR" sz="1600"/>
              <a:t>      </a:t>
            </a:r>
            <a:r>
              <a:rPr lang="pt-BR" sz="1600" b="1" err="1"/>
              <a:t>double</a:t>
            </a:r>
            <a:r>
              <a:rPr lang="pt-BR" sz="1600"/>
              <a:t> f;</a:t>
            </a:r>
            <a:br>
              <a:rPr lang="en-US" sz="1600"/>
            </a:br>
            <a:r>
              <a:rPr lang="pt-BR" sz="1600"/>
              <a:t>      </a:t>
            </a:r>
            <a:r>
              <a:rPr lang="pt-BR" sz="1600" b="1" err="1"/>
              <a:t>struct</a:t>
            </a:r>
            <a:r>
              <a:rPr lang="pt-BR" sz="1600" b="1"/>
              <a:t> node</a:t>
            </a:r>
            <a:r>
              <a:rPr lang="pt-BR" sz="1600"/>
              <a:t> *</a:t>
            </a:r>
            <a:r>
              <a:rPr lang="pt-BR" sz="1600" err="1"/>
              <a:t>parent</a:t>
            </a:r>
            <a:r>
              <a:rPr lang="pt-BR" sz="1600"/>
              <a:t>;</a:t>
            </a:r>
            <a:br>
              <a:rPr lang="pt-BR" sz="1600"/>
            </a:br>
            <a:r>
              <a:rPr lang="pt-BR" sz="1600"/>
              <a:t>      </a:t>
            </a:r>
            <a:r>
              <a:rPr lang="pt-BR" sz="1600" b="1" err="1"/>
              <a:t>node_state</a:t>
            </a:r>
            <a:r>
              <a:rPr lang="pt-BR" sz="1600"/>
              <a:t> </a:t>
            </a:r>
            <a:r>
              <a:rPr lang="pt-BR" sz="1600" err="1"/>
              <a:t>state</a:t>
            </a:r>
            <a:r>
              <a:rPr lang="pt-BR" sz="1600"/>
              <a:t>;</a:t>
            </a:r>
            <a:br>
              <a:rPr lang="pt-BR" sz="1600"/>
            </a:br>
            <a:r>
              <a:rPr lang="pt-BR" sz="1600"/>
              <a:t>}</a:t>
            </a:r>
            <a:r>
              <a:rPr lang="pt-BR" sz="1600" b="1"/>
              <a:t>node</a:t>
            </a:r>
            <a:r>
              <a:rPr lang="pt-BR" sz="160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92903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E779-A13C-EF5D-0FC4-9C23C7DF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D467EC18-6FF5-8A94-6A53-85BEDCEA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9220036-89B2-EB47-2902-20D684402C22}"/>
              </a:ext>
            </a:extLst>
          </p:cNvPr>
          <p:cNvSpPr txBox="1"/>
          <p:nvPr/>
        </p:nvSpPr>
        <p:spPr>
          <a:xfrm>
            <a:off x="-1329" y="-2900"/>
            <a:ext cx="10508544" cy="8710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 err="1"/>
              <a:t>static</a:t>
            </a:r>
            <a:r>
              <a:rPr lang="pt-BR" b="1" dirty="0">
                <a:ea typeface="+mn-lt"/>
                <a:cs typeface="+mn-lt"/>
              </a:rPr>
              <a:t> Position</a:t>
            </a:r>
            <a:r>
              <a:rPr lang="pt-BR" dirty="0">
                <a:ea typeface="+mn-lt"/>
                <a:cs typeface="+mn-lt"/>
              </a:rPr>
              <a:t> *</a:t>
            </a:r>
            <a:r>
              <a:rPr lang="pt-BR" dirty="0" err="1">
                <a:ea typeface="+mn-lt"/>
                <a:cs typeface="+mn-lt"/>
              </a:rPr>
              <a:t>find_path</a:t>
            </a:r>
            <a:r>
              <a:rPr lang="pt-BR" dirty="0">
                <a:ea typeface="+mn-lt"/>
                <a:cs typeface="+mn-lt"/>
              </a:rPr>
              <a:t>(</a:t>
            </a:r>
            <a:r>
              <a:rPr lang="pt-BR" dirty="0" err="1">
                <a:ea typeface="+mn-lt"/>
                <a:cs typeface="+mn-lt"/>
              </a:rPr>
              <a:t>const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*grid,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rows</a:t>
            </a:r>
            <a:r>
              <a:rPr lang="pt-BR" dirty="0">
                <a:ea typeface="+mn-lt"/>
                <a:cs typeface="+mn-lt"/>
              </a:rPr>
              <a:t>, </a:t>
            </a:r>
            <a:r>
              <a:rPr lang="pt-BR" b="1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collums</a:t>
            </a:r>
            <a:r>
              <a:rPr lang="pt-BR" dirty="0">
                <a:ea typeface="+mn-lt"/>
                <a:cs typeface="+mn-lt"/>
              </a:rPr>
              <a:t>, </a:t>
            </a:r>
            <a:r>
              <a:rPr lang="pt-BR" b="1" dirty="0">
                <a:ea typeface="+mn-lt"/>
                <a:cs typeface="+mn-lt"/>
              </a:rPr>
              <a:t>Position</a:t>
            </a:r>
            <a:r>
              <a:rPr lang="pt-BR" dirty="0">
                <a:ea typeface="+mn-lt"/>
                <a:cs typeface="+mn-lt"/>
              </a:rPr>
              <a:t> start, </a:t>
            </a:r>
            <a:r>
              <a:rPr lang="pt-BR" b="1" dirty="0">
                <a:ea typeface="+mn-lt"/>
                <a:cs typeface="+mn-lt"/>
              </a:rPr>
              <a:t>Position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goal</a:t>
            </a:r>
            <a:r>
              <a:rPr lang="pt-BR" dirty="0">
                <a:ea typeface="+mn-lt"/>
                <a:cs typeface="+mn-lt"/>
              </a:rPr>
              <a:t>,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*</a:t>
            </a:r>
            <a:r>
              <a:rPr lang="pt-BR" dirty="0" err="1">
                <a:ea typeface="+mn-lt"/>
                <a:cs typeface="+mn-lt"/>
              </a:rPr>
              <a:t>path_length</a:t>
            </a:r>
            <a:r>
              <a:rPr lang="pt-BR" dirty="0">
                <a:ea typeface="+mn-lt"/>
                <a:cs typeface="+mn-lt"/>
              </a:rPr>
              <a:t>) </a:t>
            </a:r>
            <a:endParaRPr lang="pt-BR"/>
          </a:p>
          <a:p>
            <a:r>
              <a:rPr lang="pt-BR">
                <a:ea typeface="+mn-lt"/>
                <a:cs typeface="+mn-lt"/>
              </a:rPr>
              <a:t>{ 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   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int</a:t>
            </a:r>
            <a:r>
              <a:rPr lang="pt-BR" b="1" dirty="0">
                <a:ea typeface="+mn-lt"/>
                <a:cs typeface="+mn-lt"/>
              </a:rPr>
              <a:t> start_index</a:t>
            </a:r>
            <a:r>
              <a:rPr lang="pt-BR" dirty="0">
                <a:ea typeface="+mn-lt"/>
                <a:cs typeface="+mn-lt"/>
              </a:rPr>
              <a:t> = start.x * collums + start.y;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nodes[</a:t>
            </a:r>
            <a:r>
              <a:rPr lang="pt-BR" b="1" dirty="0">
                <a:ea typeface="+mn-lt"/>
                <a:cs typeface="+mn-lt"/>
              </a:rPr>
              <a:t>start_index]</a:t>
            </a:r>
            <a:r>
              <a:rPr lang="pt-BR" dirty="0">
                <a:ea typeface="+mn-lt"/>
                <a:cs typeface="+mn-lt"/>
              </a:rPr>
              <a:t> = create_node(start, 0.0, heuristic(start, goal), NULL);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nodes[</a:t>
            </a:r>
            <a:r>
              <a:rPr lang="pt-BR" b="1" dirty="0">
                <a:ea typeface="+mn-lt"/>
                <a:cs typeface="+mn-lt"/>
              </a:rPr>
              <a:t>start_index].state </a:t>
            </a:r>
            <a:r>
              <a:rPr lang="pt-BR" dirty="0">
                <a:ea typeface="+mn-lt"/>
                <a:cs typeface="+mn-lt"/>
              </a:rPr>
              <a:t>= </a:t>
            </a:r>
            <a:r>
              <a:rPr lang="pt-BR" dirty="0" err="1">
                <a:ea typeface="+mn-lt"/>
                <a:cs typeface="+mn-lt"/>
              </a:rPr>
              <a:t>node_open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br>
              <a:rPr lang="pt-BR" dirty="0">
                <a:ea typeface="+mn-lt"/>
                <a:cs typeface="+mn-lt"/>
              </a:rPr>
            </a:br>
            <a:r>
              <a:rPr lang="pt-BR" b="1" dirty="0">
                <a:ea typeface="+mn-lt"/>
                <a:cs typeface="+mn-lt"/>
              </a:rPr>
              <a:t>    </a:t>
            </a:r>
            <a:r>
              <a:rPr lang="pt-BR" b="1" dirty="0" err="1">
                <a:ea typeface="+mn-lt"/>
                <a:cs typeface="+mn-lt"/>
              </a:rPr>
              <a:t>min_heap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open_list</a:t>
            </a:r>
            <a:r>
              <a:rPr lang="pt-BR" b="1" dirty="0">
                <a:ea typeface="+mn-lt"/>
                <a:cs typeface="+mn-lt"/>
              </a:rPr>
              <a:t>;</a:t>
            </a:r>
            <a:br>
              <a:rPr lang="pt-BR" b="1" dirty="0">
                <a:ea typeface="+mn-lt"/>
                <a:cs typeface="+mn-lt"/>
              </a:rPr>
            </a:br>
            <a:r>
              <a:rPr lang="pt-BR" b="1" dirty="0">
                <a:ea typeface="+mn-lt"/>
                <a:cs typeface="+mn-lt"/>
              </a:rPr>
              <a:t>    </a:t>
            </a:r>
            <a:r>
              <a:rPr lang="pt-BR" b="1" dirty="0" err="1">
                <a:ea typeface="+mn-lt"/>
                <a:cs typeface="+mn-lt"/>
              </a:rPr>
              <a:t>heap_begin</a:t>
            </a:r>
            <a:r>
              <a:rPr lang="pt-BR" b="1" dirty="0">
                <a:ea typeface="+mn-lt"/>
                <a:cs typeface="+mn-lt"/>
              </a:rPr>
              <a:t>(&amp;</a:t>
            </a:r>
            <a:r>
              <a:rPr lang="pt-BR" b="1" dirty="0" err="1">
                <a:ea typeface="+mn-lt"/>
                <a:cs typeface="+mn-lt"/>
              </a:rPr>
              <a:t>open_list</a:t>
            </a:r>
            <a:r>
              <a:rPr lang="pt-BR" b="1" dirty="0">
                <a:ea typeface="+mn-lt"/>
                <a:cs typeface="+mn-lt"/>
              </a:rPr>
              <a:t>, 64)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</a:t>
            </a:r>
            <a:r>
              <a:rPr lang="pt-BR" dirty="0" err="1">
                <a:ea typeface="+mn-lt"/>
                <a:cs typeface="+mn-lt"/>
              </a:rPr>
              <a:t>heap_push</a:t>
            </a:r>
            <a:r>
              <a:rPr lang="pt-BR" b="1" dirty="0">
                <a:ea typeface="+mn-lt"/>
                <a:cs typeface="+mn-lt"/>
              </a:rPr>
              <a:t>(&amp;</a:t>
            </a:r>
            <a:r>
              <a:rPr lang="pt-BR" b="1" dirty="0" err="1">
                <a:ea typeface="+mn-lt"/>
                <a:cs typeface="+mn-lt"/>
              </a:rPr>
              <a:t>open_list</a:t>
            </a:r>
            <a:r>
              <a:rPr lang="pt-BR" b="1" dirty="0">
                <a:ea typeface="+mn-lt"/>
                <a:cs typeface="+mn-lt"/>
              </a:rPr>
              <a:t>, nodes[</a:t>
            </a:r>
            <a:r>
              <a:rPr lang="pt-BR" b="1" dirty="0" err="1">
                <a:ea typeface="+mn-lt"/>
                <a:cs typeface="+mn-lt"/>
              </a:rPr>
              <a:t>start_index</a:t>
            </a:r>
            <a:r>
              <a:rPr lang="pt-BR" b="1" dirty="0">
                <a:ea typeface="+mn-lt"/>
                <a:cs typeface="+mn-lt"/>
              </a:rPr>
              <a:t>].f, </a:t>
            </a:r>
            <a:r>
              <a:rPr lang="pt-BR" b="1" dirty="0" err="1">
                <a:ea typeface="+mn-lt"/>
                <a:cs typeface="+mn-lt"/>
              </a:rPr>
              <a:t>start_index</a:t>
            </a:r>
            <a:r>
              <a:rPr lang="pt-BR" b="1" dirty="0">
                <a:ea typeface="+mn-lt"/>
                <a:cs typeface="+mn-lt"/>
              </a:rPr>
              <a:t>)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Position *</a:t>
            </a:r>
            <a:r>
              <a:rPr lang="pt-BR" b="1" dirty="0" err="1">
                <a:ea typeface="+mn-lt"/>
                <a:cs typeface="+mn-lt"/>
              </a:rPr>
              <a:t>result</a:t>
            </a:r>
            <a:r>
              <a:rPr lang="pt-BR" dirty="0">
                <a:ea typeface="+mn-lt"/>
                <a:cs typeface="+mn-lt"/>
              </a:rPr>
              <a:t> = NULL;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</a:t>
            </a:r>
            <a:r>
              <a:rPr lang="pt-BR" dirty="0" err="1">
                <a:ea typeface="+mn-lt"/>
                <a:cs typeface="+mn-lt"/>
              </a:rPr>
              <a:t>while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open_list.size</a:t>
            </a:r>
            <a:r>
              <a:rPr lang="pt-BR" dirty="0">
                <a:ea typeface="+mn-lt"/>
                <a:cs typeface="+mn-lt"/>
              </a:rPr>
              <a:t> &gt; 0) {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heap_entry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entry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heap_pop</a:t>
            </a:r>
            <a:r>
              <a:rPr lang="pt-BR" dirty="0">
                <a:ea typeface="+mn-lt"/>
                <a:cs typeface="+mn-lt"/>
              </a:rPr>
              <a:t>(&amp;</a:t>
            </a:r>
            <a:r>
              <a:rPr lang="pt-BR" dirty="0" err="1">
                <a:ea typeface="+mn-lt"/>
                <a:cs typeface="+mn-lt"/>
              </a:rPr>
              <a:t>open_list</a:t>
            </a:r>
            <a:r>
              <a:rPr lang="pt-BR" dirty="0">
                <a:ea typeface="+mn-lt"/>
                <a:cs typeface="+mn-lt"/>
              </a:rPr>
              <a:t>);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>
                <a:ea typeface="+mn-lt"/>
                <a:cs typeface="+mn-lt"/>
              </a:rPr>
              <a:t>node *</a:t>
            </a:r>
            <a:r>
              <a:rPr lang="pt-BR" b="1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 = &amp;nodes[</a:t>
            </a:r>
            <a:r>
              <a:rPr lang="pt-BR" dirty="0" err="1">
                <a:ea typeface="+mn-lt"/>
                <a:cs typeface="+mn-lt"/>
              </a:rPr>
              <a:t>entry.index</a:t>
            </a:r>
            <a:r>
              <a:rPr lang="pt-BR" dirty="0">
                <a:ea typeface="+mn-lt"/>
                <a:cs typeface="+mn-lt"/>
              </a:rPr>
              <a:t>];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state</a:t>
            </a:r>
            <a:r>
              <a:rPr lang="pt-BR" dirty="0">
                <a:ea typeface="+mn-lt"/>
                <a:cs typeface="+mn-lt"/>
              </a:rPr>
              <a:t> == </a:t>
            </a:r>
            <a:r>
              <a:rPr lang="pt-BR" dirty="0" err="1">
                <a:ea typeface="+mn-lt"/>
                <a:cs typeface="+mn-lt"/>
              </a:rPr>
              <a:t>node_closed</a:t>
            </a:r>
            <a:r>
              <a:rPr lang="pt-BR" dirty="0">
                <a:ea typeface="+mn-lt"/>
                <a:cs typeface="+mn-lt"/>
              </a:rPr>
              <a:t>) { 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    </a:t>
            </a:r>
            <a:r>
              <a:rPr lang="pt-BR" b="1" dirty="0">
                <a:ea typeface="+mn-lt"/>
                <a:cs typeface="+mn-lt"/>
              </a:rPr>
              <a:t>continue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}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position.x</a:t>
            </a:r>
            <a:r>
              <a:rPr lang="pt-BR" dirty="0">
                <a:ea typeface="+mn-lt"/>
                <a:cs typeface="+mn-lt"/>
              </a:rPr>
              <a:t> == </a:t>
            </a:r>
            <a:r>
              <a:rPr lang="pt-BR" dirty="0" err="1">
                <a:ea typeface="+mn-lt"/>
                <a:cs typeface="+mn-lt"/>
              </a:rPr>
              <a:t>goal.x</a:t>
            </a:r>
            <a:r>
              <a:rPr lang="pt-BR" dirty="0">
                <a:ea typeface="+mn-lt"/>
                <a:cs typeface="+mn-lt"/>
              </a:rPr>
              <a:t> &amp;&amp; 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position.y</a:t>
            </a:r>
            <a:r>
              <a:rPr lang="pt-BR" dirty="0">
                <a:ea typeface="+mn-lt"/>
                <a:cs typeface="+mn-lt"/>
              </a:rPr>
              <a:t> == </a:t>
            </a:r>
            <a:r>
              <a:rPr lang="pt-BR" dirty="0" err="1">
                <a:ea typeface="+mn-lt"/>
                <a:cs typeface="+mn-lt"/>
              </a:rPr>
              <a:t>goal.y</a:t>
            </a:r>
            <a:r>
              <a:rPr lang="pt-BR" dirty="0">
                <a:ea typeface="+mn-lt"/>
                <a:cs typeface="+mn-lt"/>
              </a:rPr>
              <a:t>) {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    </a:t>
            </a:r>
            <a:r>
              <a:rPr lang="pt-BR" b="1" dirty="0" err="1">
                <a:ea typeface="+mn-lt"/>
                <a:cs typeface="+mn-lt"/>
              </a:rPr>
              <a:t>result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reconstruct_path</a:t>
            </a:r>
            <a:r>
              <a:rPr lang="pt-BR" dirty="0">
                <a:ea typeface="+mn-lt"/>
                <a:cs typeface="+mn-lt"/>
              </a:rPr>
              <a:t>(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, </a:t>
            </a:r>
            <a:r>
              <a:rPr lang="pt-BR" dirty="0" err="1">
                <a:ea typeface="+mn-lt"/>
                <a:cs typeface="+mn-lt"/>
              </a:rPr>
              <a:t>path_length</a:t>
            </a:r>
            <a:r>
              <a:rPr lang="pt-BR" dirty="0">
                <a:ea typeface="+mn-lt"/>
                <a:cs typeface="+mn-lt"/>
              </a:rPr>
              <a:t>);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    </a:t>
            </a:r>
            <a:r>
              <a:rPr lang="pt-BR" b="1" dirty="0">
                <a:ea typeface="+mn-lt"/>
                <a:cs typeface="+mn-lt"/>
              </a:rPr>
              <a:t>break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}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current</a:t>
            </a:r>
            <a:r>
              <a:rPr lang="pt-BR" b="1" dirty="0">
                <a:ea typeface="+mn-lt"/>
                <a:cs typeface="+mn-lt"/>
              </a:rPr>
              <a:t>-&gt;</a:t>
            </a:r>
            <a:r>
              <a:rPr lang="pt-BR" b="1" dirty="0" err="1">
                <a:ea typeface="+mn-lt"/>
                <a:cs typeface="+mn-lt"/>
              </a:rPr>
              <a:t>state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node_closed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</a:t>
            </a:r>
            <a:r>
              <a:rPr lang="pt-BR" b="1" dirty="0">
                <a:ea typeface="+mn-lt"/>
                <a:cs typeface="+mn-lt"/>
              </a:rPr>
              <a:t>Position </a:t>
            </a:r>
            <a:r>
              <a:rPr lang="pt-BR" b="1" dirty="0" err="1">
                <a:ea typeface="+mn-lt"/>
                <a:cs typeface="+mn-lt"/>
              </a:rPr>
              <a:t>neighbors</a:t>
            </a:r>
            <a:r>
              <a:rPr lang="pt-BR" b="1" dirty="0">
                <a:ea typeface="+mn-lt"/>
                <a:cs typeface="+mn-lt"/>
              </a:rPr>
              <a:t>[8]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int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n_count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valid_neighbors</a:t>
            </a:r>
            <a:r>
              <a:rPr lang="pt-BR" dirty="0">
                <a:ea typeface="+mn-lt"/>
                <a:cs typeface="+mn-lt"/>
              </a:rPr>
              <a:t>(grid, </a:t>
            </a:r>
            <a:r>
              <a:rPr lang="pt-BR" dirty="0" err="1">
                <a:ea typeface="+mn-lt"/>
                <a:cs typeface="+mn-lt"/>
              </a:rPr>
              <a:t>rows</a:t>
            </a:r>
            <a:r>
              <a:rPr lang="pt-BR" dirty="0">
                <a:ea typeface="+mn-lt"/>
                <a:cs typeface="+mn-lt"/>
              </a:rPr>
              <a:t>, </a:t>
            </a:r>
            <a:r>
              <a:rPr lang="pt-BR" dirty="0" err="1">
                <a:ea typeface="+mn-lt"/>
                <a:cs typeface="+mn-lt"/>
              </a:rPr>
              <a:t>collums</a:t>
            </a:r>
            <a:r>
              <a:rPr lang="pt-BR" dirty="0">
                <a:ea typeface="+mn-lt"/>
                <a:cs typeface="+mn-lt"/>
              </a:rPr>
              <a:t>, 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-&gt;position, </a:t>
            </a:r>
            <a:r>
              <a:rPr lang="pt-BR" dirty="0" err="1">
                <a:ea typeface="+mn-lt"/>
                <a:cs typeface="+mn-lt"/>
              </a:rPr>
              <a:t>neighbors</a:t>
            </a:r>
            <a:r>
              <a:rPr lang="pt-BR" dirty="0">
                <a:ea typeface="+mn-lt"/>
                <a:cs typeface="+mn-lt"/>
              </a:rPr>
              <a:t>); </a:t>
            </a:r>
            <a:br>
              <a:rPr lang="pt-BR" sz="1600" dirty="0">
                <a:ea typeface="+mn-lt"/>
                <a:cs typeface="+mn-lt"/>
              </a:rPr>
            </a:br>
            <a:endParaRPr lang="pt-BR" sz="1600" dirty="0">
              <a:ea typeface="+mn-lt"/>
              <a:cs typeface="+mn-lt"/>
            </a:endParaRPr>
          </a:p>
          <a:p>
            <a:br>
              <a:rPr lang="pt-BR" sz="1600" dirty="0">
                <a:ea typeface="+mn-lt"/>
                <a:cs typeface="+mn-lt"/>
              </a:rPr>
            </a:br>
            <a:br>
              <a:rPr lang="pt-BR" sz="1600" dirty="0">
                <a:ea typeface="+mn-lt"/>
                <a:cs typeface="+mn-lt"/>
              </a:rPr>
            </a:br>
            <a:r>
              <a:rPr lang="pt-BR" sz="1600" dirty="0">
                <a:ea typeface="+mn-lt"/>
                <a:cs typeface="+mn-lt"/>
              </a:rPr>
              <a:t> </a:t>
            </a:r>
            <a:br>
              <a:rPr lang="pt-BR" sz="1600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 </a:t>
            </a:r>
            <a:br>
              <a:rPr lang="pt-BR" sz="1600" dirty="0">
                <a:ea typeface="+mn-lt"/>
                <a:cs typeface="+mn-lt"/>
              </a:rPr>
            </a:br>
            <a:endParaRPr lang="pt-BR" sz="1600" dirty="0">
              <a:ea typeface="+mn-lt"/>
              <a:cs typeface="+mn-lt"/>
            </a:endParaRPr>
          </a:p>
          <a:p>
            <a:br>
              <a:rPr lang="pt-BR" sz="1600" b="1"/>
            </a:br>
            <a:endParaRPr lang="pt-BR" sz="1600" b="1"/>
          </a:p>
        </p:txBody>
      </p:sp>
    </p:spTree>
    <p:extLst>
      <p:ext uri="{BB962C8B-B14F-4D97-AF65-F5344CB8AC3E}">
        <p14:creationId xmlns:p14="http://schemas.microsoft.com/office/powerpoint/2010/main" val="41805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C402-24BD-44F9-488F-A94E0DE3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BE0E1C1-FC05-F13B-FE08-9F8E038E5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FA33152-C16F-9406-F20A-CD8BC5A3DD51}"/>
              </a:ext>
            </a:extLst>
          </p:cNvPr>
          <p:cNvSpPr txBox="1"/>
          <p:nvPr/>
        </p:nvSpPr>
        <p:spPr>
          <a:xfrm>
            <a:off x="-1329" y="-2900"/>
            <a:ext cx="10508544" cy="68018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ea typeface="+mn-lt"/>
                <a:cs typeface="+mn-lt"/>
              </a:rPr>
              <a:t>for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i = 0; i &lt; </a:t>
            </a:r>
            <a:r>
              <a:rPr lang="pt-BR" dirty="0" err="1">
                <a:ea typeface="+mn-lt"/>
                <a:cs typeface="+mn-lt"/>
              </a:rPr>
              <a:t>n_count</a:t>
            </a:r>
            <a:r>
              <a:rPr lang="pt-BR" dirty="0">
                <a:ea typeface="+mn-lt"/>
                <a:cs typeface="+mn-lt"/>
              </a:rPr>
              <a:t>; i++) {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</a:t>
            </a:r>
            <a:r>
              <a:rPr lang="pt-BR" b="1" dirty="0">
                <a:ea typeface="+mn-lt"/>
                <a:cs typeface="+mn-lt"/>
              </a:rPr>
              <a:t>Position </a:t>
            </a:r>
            <a:r>
              <a:rPr lang="pt-BR" b="1" dirty="0" err="1">
                <a:ea typeface="+mn-lt"/>
                <a:cs typeface="+mn-lt"/>
              </a:rPr>
              <a:t>n_pos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neighbors</a:t>
            </a:r>
            <a:r>
              <a:rPr lang="pt-BR" dirty="0">
                <a:ea typeface="+mn-lt"/>
                <a:cs typeface="+mn-lt"/>
              </a:rPr>
              <a:t>[i];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</a:t>
            </a:r>
            <a:r>
              <a:rPr lang="pt-BR" b="1" dirty="0">
                <a:ea typeface="+mn-lt"/>
                <a:cs typeface="+mn-lt"/>
              </a:rPr>
              <a:t>node *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dirty="0">
                <a:ea typeface="+mn-lt"/>
                <a:cs typeface="+mn-lt"/>
              </a:rPr>
              <a:t> = &amp;nodes[</a:t>
            </a:r>
            <a:r>
              <a:rPr lang="pt-BR" dirty="0" err="1">
                <a:ea typeface="+mn-lt"/>
                <a:cs typeface="+mn-lt"/>
              </a:rPr>
              <a:t>n_pos.x</a:t>
            </a:r>
            <a:r>
              <a:rPr lang="pt-BR" dirty="0">
                <a:ea typeface="+mn-lt"/>
                <a:cs typeface="+mn-lt"/>
              </a:rPr>
              <a:t> * </a:t>
            </a:r>
            <a:r>
              <a:rPr lang="pt-BR" dirty="0" err="1">
                <a:ea typeface="+mn-lt"/>
                <a:cs typeface="+mn-lt"/>
              </a:rPr>
              <a:t>collums</a:t>
            </a:r>
            <a:r>
              <a:rPr lang="pt-BR" dirty="0">
                <a:ea typeface="+mn-lt"/>
                <a:cs typeface="+mn-lt"/>
              </a:rPr>
              <a:t> + </a:t>
            </a:r>
            <a:r>
              <a:rPr lang="pt-BR" dirty="0" err="1">
                <a:ea typeface="+mn-lt"/>
                <a:cs typeface="+mn-lt"/>
              </a:rPr>
              <a:t>n_pos.y</a:t>
            </a:r>
            <a:r>
              <a:rPr lang="pt-BR" dirty="0">
                <a:ea typeface="+mn-lt"/>
                <a:cs typeface="+mn-lt"/>
              </a:rPr>
              <a:t>];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</a:t>
            </a:r>
            <a:r>
              <a:rPr lang="pt-BR" b="1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neighbor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state</a:t>
            </a:r>
            <a:r>
              <a:rPr lang="pt-BR" dirty="0">
                <a:ea typeface="+mn-lt"/>
                <a:cs typeface="+mn-lt"/>
              </a:rPr>
              <a:t> == </a:t>
            </a:r>
            <a:r>
              <a:rPr lang="pt-BR" dirty="0" err="1">
                <a:ea typeface="+mn-lt"/>
                <a:cs typeface="+mn-lt"/>
              </a:rPr>
              <a:t>node_closed</a:t>
            </a:r>
            <a:r>
              <a:rPr lang="pt-BR" dirty="0">
                <a:ea typeface="+mn-lt"/>
                <a:cs typeface="+mn-lt"/>
              </a:rPr>
              <a:t>) {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>
                <a:ea typeface="+mn-lt"/>
                <a:cs typeface="+mn-lt"/>
              </a:rPr>
              <a:t>continue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}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</a:t>
            </a:r>
            <a:r>
              <a:rPr lang="pt-BR" b="1" dirty="0" err="1">
                <a:ea typeface="+mn-lt"/>
                <a:cs typeface="+mn-lt"/>
              </a:rPr>
              <a:t>double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tentative_g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-&gt;g + </a:t>
            </a:r>
            <a:r>
              <a:rPr lang="pt-BR" dirty="0" err="1">
                <a:ea typeface="+mn-lt"/>
                <a:cs typeface="+mn-lt"/>
              </a:rPr>
              <a:t>heuristic</a:t>
            </a:r>
            <a:r>
              <a:rPr lang="pt-BR" dirty="0">
                <a:ea typeface="+mn-lt"/>
                <a:cs typeface="+mn-lt"/>
              </a:rPr>
              <a:t>(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-&gt;position, </a:t>
            </a:r>
            <a:r>
              <a:rPr lang="pt-BR" dirty="0" err="1">
                <a:ea typeface="+mn-lt"/>
                <a:cs typeface="+mn-lt"/>
              </a:rPr>
              <a:t>n_pos</a:t>
            </a:r>
            <a:r>
              <a:rPr lang="pt-BR" dirty="0">
                <a:ea typeface="+mn-lt"/>
                <a:cs typeface="+mn-lt"/>
              </a:rPr>
              <a:t>);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</a:t>
            </a:r>
            <a:r>
              <a:rPr lang="pt-BR" b="1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neighbor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state</a:t>
            </a:r>
            <a:r>
              <a:rPr lang="pt-BR" dirty="0">
                <a:ea typeface="+mn-lt"/>
                <a:cs typeface="+mn-lt"/>
              </a:rPr>
              <a:t> == </a:t>
            </a:r>
            <a:r>
              <a:rPr lang="pt-BR" dirty="0" err="1">
                <a:ea typeface="+mn-lt"/>
                <a:cs typeface="+mn-lt"/>
              </a:rPr>
              <a:t>node_unseen</a:t>
            </a:r>
            <a:r>
              <a:rPr lang="pt-BR" dirty="0">
                <a:ea typeface="+mn-lt"/>
                <a:cs typeface="+mn-lt"/>
              </a:rPr>
              <a:t> || </a:t>
            </a:r>
            <a:r>
              <a:rPr lang="pt-BR" dirty="0" err="1">
                <a:ea typeface="+mn-lt"/>
                <a:cs typeface="+mn-lt"/>
              </a:rPr>
              <a:t>tentative_g</a:t>
            </a:r>
            <a:r>
              <a:rPr lang="pt-BR" dirty="0">
                <a:ea typeface="+mn-lt"/>
                <a:cs typeface="+mn-lt"/>
              </a:rPr>
              <a:t> &lt; </a:t>
            </a:r>
            <a:r>
              <a:rPr lang="pt-BR" dirty="0" err="1">
                <a:ea typeface="+mn-lt"/>
                <a:cs typeface="+mn-lt"/>
              </a:rPr>
              <a:t>neighbor</a:t>
            </a:r>
            <a:r>
              <a:rPr lang="pt-BR" dirty="0">
                <a:ea typeface="+mn-lt"/>
                <a:cs typeface="+mn-lt"/>
              </a:rPr>
              <a:t>-&gt;g) {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b="1" dirty="0">
                <a:ea typeface="+mn-lt"/>
                <a:cs typeface="+mn-lt"/>
              </a:rPr>
              <a:t>-&gt;g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tentative_g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b="1" dirty="0">
                <a:ea typeface="+mn-lt"/>
                <a:cs typeface="+mn-lt"/>
              </a:rPr>
              <a:t>-&gt;h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heuristic</a:t>
            </a:r>
            <a:r>
              <a:rPr lang="pt-BR" dirty="0">
                <a:ea typeface="+mn-lt"/>
                <a:cs typeface="+mn-lt"/>
              </a:rPr>
              <a:t>(</a:t>
            </a:r>
            <a:r>
              <a:rPr lang="pt-BR" dirty="0" err="1">
                <a:ea typeface="+mn-lt"/>
                <a:cs typeface="+mn-lt"/>
              </a:rPr>
              <a:t>n_pos</a:t>
            </a:r>
            <a:r>
              <a:rPr lang="pt-BR" dirty="0">
                <a:ea typeface="+mn-lt"/>
                <a:cs typeface="+mn-lt"/>
              </a:rPr>
              <a:t>, </a:t>
            </a:r>
            <a:r>
              <a:rPr lang="pt-BR" dirty="0" err="1">
                <a:ea typeface="+mn-lt"/>
                <a:cs typeface="+mn-lt"/>
              </a:rPr>
              <a:t>goal</a:t>
            </a:r>
            <a:r>
              <a:rPr lang="pt-BR" dirty="0">
                <a:ea typeface="+mn-lt"/>
                <a:cs typeface="+mn-lt"/>
              </a:rPr>
              <a:t>);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b="1" dirty="0">
                <a:ea typeface="+mn-lt"/>
                <a:cs typeface="+mn-lt"/>
              </a:rPr>
              <a:t>-&gt;f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neighbor</a:t>
            </a:r>
            <a:r>
              <a:rPr lang="pt-BR" dirty="0">
                <a:ea typeface="+mn-lt"/>
                <a:cs typeface="+mn-lt"/>
              </a:rPr>
              <a:t>-&gt;g + </a:t>
            </a:r>
            <a:r>
              <a:rPr lang="pt-BR" dirty="0" err="1">
                <a:ea typeface="+mn-lt"/>
                <a:cs typeface="+mn-lt"/>
              </a:rPr>
              <a:t>neighbor</a:t>
            </a:r>
            <a:r>
              <a:rPr lang="pt-BR" dirty="0">
                <a:ea typeface="+mn-lt"/>
                <a:cs typeface="+mn-lt"/>
              </a:rPr>
              <a:t>-&gt;h;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b="1" dirty="0">
                <a:ea typeface="+mn-lt"/>
                <a:cs typeface="+mn-lt"/>
              </a:rPr>
              <a:t>-&gt;</a:t>
            </a:r>
            <a:r>
              <a:rPr lang="pt-BR" b="1" dirty="0" err="1">
                <a:ea typeface="+mn-lt"/>
                <a:cs typeface="+mn-lt"/>
              </a:rPr>
              <a:t>parent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current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b="1" dirty="0">
                <a:ea typeface="+mn-lt"/>
                <a:cs typeface="+mn-lt"/>
              </a:rPr>
              <a:t>-&gt;</a:t>
            </a:r>
            <a:r>
              <a:rPr lang="pt-BR" b="1" dirty="0" err="1">
                <a:ea typeface="+mn-lt"/>
                <a:cs typeface="+mn-lt"/>
              </a:rPr>
              <a:t>state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node_open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    </a:t>
            </a:r>
            <a:r>
              <a:rPr lang="pt-BR" b="1" dirty="0" err="1">
                <a:ea typeface="+mn-lt"/>
                <a:cs typeface="+mn-lt"/>
              </a:rPr>
              <a:t>heap_push</a:t>
            </a:r>
            <a:r>
              <a:rPr lang="pt-BR" b="1" dirty="0">
                <a:ea typeface="+mn-lt"/>
                <a:cs typeface="+mn-lt"/>
              </a:rPr>
              <a:t>(&amp;</a:t>
            </a:r>
            <a:r>
              <a:rPr lang="pt-BR" b="1" dirty="0" err="1">
                <a:ea typeface="+mn-lt"/>
                <a:cs typeface="+mn-lt"/>
              </a:rPr>
              <a:t>open_list</a:t>
            </a:r>
            <a:r>
              <a:rPr lang="pt-BR" b="1" dirty="0">
                <a:ea typeface="+mn-lt"/>
                <a:cs typeface="+mn-lt"/>
              </a:rPr>
              <a:t>, </a:t>
            </a:r>
            <a:r>
              <a:rPr lang="pt-BR" b="1" dirty="0" err="1">
                <a:ea typeface="+mn-lt"/>
                <a:cs typeface="+mn-lt"/>
              </a:rPr>
              <a:t>neighbor</a:t>
            </a:r>
            <a:r>
              <a:rPr lang="pt-BR" b="1" dirty="0">
                <a:ea typeface="+mn-lt"/>
                <a:cs typeface="+mn-lt"/>
              </a:rPr>
              <a:t>-&gt;f, </a:t>
            </a:r>
            <a:r>
              <a:rPr lang="pt-BR" b="1" dirty="0" err="1">
                <a:ea typeface="+mn-lt"/>
                <a:cs typeface="+mn-lt"/>
              </a:rPr>
              <a:t>n_pos.x</a:t>
            </a:r>
            <a:r>
              <a:rPr lang="pt-BR" b="1" dirty="0">
                <a:ea typeface="+mn-lt"/>
                <a:cs typeface="+mn-lt"/>
              </a:rPr>
              <a:t> * </a:t>
            </a:r>
            <a:r>
              <a:rPr lang="pt-BR" b="1" dirty="0" err="1">
                <a:ea typeface="+mn-lt"/>
                <a:cs typeface="+mn-lt"/>
              </a:rPr>
              <a:t>collums</a:t>
            </a:r>
            <a:r>
              <a:rPr lang="pt-BR" b="1" dirty="0">
                <a:ea typeface="+mn-lt"/>
                <a:cs typeface="+mn-lt"/>
              </a:rPr>
              <a:t> + </a:t>
            </a:r>
            <a:r>
              <a:rPr lang="pt-BR" b="1" dirty="0" err="1">
                <a:ea typeface="+mn-lt"/>
                <a:cs typeface="+mn-lt"/>
              </a:rPr>
              <a:t>n_pos.y</a:t>
            </a:r>
            <a:r>
              <a:rPr lang="pt-BR" b="1" dirty="0">
                <a:ea typeface="+mn-lt"/>
                <a:cs typeface="+mn-lt"/>
              </a:rPr>
              <a:t>)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    }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}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} </a:t>
            </a:r>
            <a:br>
              <a:rPr lang="pt-BR" dirty="0">
                <a:ea typeface="+mn-lt"/>
                <a:cs typeface="+mn-lt"/>
              </a:rPr>
            </a:br>
            <a:r>
              <a:rPr lang="pt-BR" dirty="0" err="1">
                <a:ea typeface="+mn-lt"/>
                <a:cs typeface="+mn-lt"/>
              </a:rPr>
              <a:t>free_heap</a:t>
            </a:r>
            <a:r>
              <a:rPr lang="pt-BR" b="1" dirty="0">
                <a:ea typeface="+mn-lt"/>
                <a:cs typeface="+mn-lt"/>
              </a:rPr>
              <a:t>(&amp;</a:t>
            </a:r>
            <a:r>
              <a:rPr lang="pt-BR" b="1" dirty="0" err="1">
                <a:ea typeface="+mn-lt"/>
                <a:cs typeface="+mn-lt"/>
              </a:rPr>
              <a:t>open_list</a:t>
            </a:r>
            <a:r>
              <a:rPr lang="pt-BR" b="1" dirty="0">
                <a:ea typeface="+mn-lt"/>
                <a:cs typeface="+mn-lt"/>
              </a:rPr>
              <a:t>)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/>
            </a:br>
            <a:r>
              <a:rPr lang="pt-BR" dirty="0" err="1">
                <a:ea typeface="+mn-lt"/>
                <a:cs typeface="+mn-lt"/>
              </a:rPr>
              <a:t>free</a:t>
            </a:r>
            <a:r>
              <a:rPr lang="pt-BR" b="1" dirty="0">
                <a:ea typeface="+mn-lt"/>
                <a:cs typeface="+mn-lt"/>
              </a:rPr>
              <a:t>(nodes)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 err="1">
                <a:ea typeface="+mn-lt"/>
                <a:cs typeface="+mn-lt"/>
              </a:rPr>
              <a:t>return</a:t>
            </a:r>
            <a:r>
              <a:rPr lang="pt-BR" b="1" dirty="0">
                <a:ea typeface="+mn-lt"/>
                <a:cs typeface="+mn-lt"/>
              </a:rPr>
              <a:t> </a:t>
            </a:r>
            <a:r>
              <a:rPr lang="pt-BR" b="1" dirty="0" err="1">
                <a:ea typeface="+mn-lt"/>
                <a:cs typeface="+mn-lt"/>
              </a:rPr>
              <a:t>result</a:t>
            </a:r>
            <a:r>
              <a:rPr lang="pt-BR" dirty="0">
                <a:ea typeface="+mn-lt"/>
                <a:cs typeface="+mn-lt"/>
              </a:rPr>
              <a:t>; 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}</a:t>
            </a:r>
            <a:endParaRPr lang="pt-BR"/>
          </a:p>
          <a:p>
            <a:endParaRPr lang="pt-BR" dirty="0">
              <a:ea typeface="+mn-lt"/>
              <a:cs typeface="+mn-lt"/>
            </a:endParaRPr>
          </a:p>
          <a:p>
            <a:endParaRPr lang="pt-BR" sz="1200"/>
          </a:p>
          <a:p>
            <a:endParaRPr lang="pt-BR" sz="1200"/>
          </a:p>
          <a:p>
            <a:endParaRPr lang="pt-BR" sz="1600" b="1"/>
          </a:p>
        </p:txBody>
      </p:sp>
    </p:spTree>
    <p:extLst>
      <p:ext uri="{BB962C8B-B14F-4D97-AF65-F5344CB8AC3E}">
        <p14:creationId xmlns:p14="http://schemas.microsoft.com/office/powerpoint/2010/main" val="194687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0D774-0520-7244-6652-D0D13B47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347C8-BA33-0464-3B94-73B6590F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4162540" cy="1325563"/>
          </a:xfrm>
        </p:spPr>
        <p:txBody>
          <a:bodyPr/>
          <a:lstStyle/>
          <a:p>
            <a:r>
              <a:rPr lang="pt-BR" sz="2800" b="1"/>
              <a:t>Representação do A*: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01452FF6-A8D4-F494-500F-64466EFC8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  <p:pic>
        <p:nvPicPr>
          <p:cNvPr id="4" name="astar_animacao">
            <a:hlinkClick r:id="" action="ppaction://media"/>
            <a:extLst>
              <a:ext uri="{FF2B5EF4-FFF2-40B4-BE49-F238E27FC236}">
                <a16:creationId xmlns:a16="http://schemas.microsoft.com/office/drawing/2014/main" id="{A5DC4D25-AC10-0DF9-4457-C192AEC521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0936" y="1088366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8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2CF6-C15E-1433-E9FC-9E864443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C0144-AB8E-1C3E-D09F-CAD2A059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3125119" cy="1325563"/>
          </a:xfrm>
        </p:spPr>
        <p:txBody>
          <a:bodyPr/>
          <a:lstStyle/>
          <a:p>
            <a:r>
              <a:rPr lang="pt-BR" sz="2800" b="1" err="1"/>
              <a:t>Segment</a:t>
            </a:r>
            <a:r>
              <a:rPr lang="pt-BR" sz="2800" b="1"/>
              <a:t> </a:t>
            </a:r>
            <a:r>
              <a:rPr lang="pt-BR" sz="2800" b="1" err="1"/>
              <a:t>Tree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859CE9-8C4C-F11B-B2BB-421EFE145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171545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pt-BR" dirty="0"/>
              <a:t>É uma estrutura de dados que guarda informações sobre intervalos de um </a:t>
            </a:r>
            <a:r>
              <a:rPr lang="pt-BR" dirty="0" err="1"/>
              <a:t>array</a:t>
            </a:r>
            <a:r>
              <a:rPr lang="pt-BR" dirty="0"/>
              <a:t> como uma árvore binária.</a:t>
            </a:r>
          </a:p>
          <a:p>
            <a:pPr marL="457200" indent="-457200"/>
            <a:endParaRPr lang="pt-BR"/>
          </a:p>
          <a:p>
            <a:pPr marL="457200" indent="-457200"/>
            <a:r>
              <a:rPr lang="pt-BR" dirty="0"/>
              <a:t>Possui três funções, </a:t>
            </a:r>
            <a:r>
              <a:rPr lang="pt-BR"/>
              <a:t>build, update e query.</a:t>
            </a:r>
          </a:p>
          <a:p>
            <a:pPr marL="457200" indent="-457200"/>
            <a:endParaRPr lang="pt-BR" dirty="0"/>
          </a:p>
          <a:p>
            <a:pPr marL="457200" indent="-457200"/>
            <a:r>
              <a:rPr lang="pt-BR" dirty="0"/>
              <a:t>Build = O(n), Update = </a:t>
            </a:r>
            <a:r>
              <a:rPr lang="pt-BR"/>
              <a:t>O(log n), Query</a:t>
            </a:r>
            <a:r>
              <a:rPr lang="pt-BR" dirty="0"/>
              <a:t> = O(log n).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E586C7C-4F6F-6E62-3EB0-A4B5DBF8B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62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0C36-90D3-0F98-0DA7-1C840818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26006-2525-0FF5-FCE7-AC09EDEF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5454251" cy="1325563"/>
          </a:xfrm>
        </p:spPr>
        <p:txBody>
          <a:bodyPr/>
          <a:lstStyle/>
          <a:p>
            <a:r>
              <a:rPr lang="pt-BR" sz="2800" b="1" dirty="0"/>
              <a:t>Como funciona a </a:t>
            </a:r>
            <a:r>
              <a:rPr lang="pt-BR" sz="2800" b="1" dirty="0" err="1"/>
              <a:t>Segment</a:t>
            </a:r>
            <a:r>
              <a:rPr lang="pt-BR" sz="2800" b="1" dirty="0"/>
              <a:t> </a:t>
            </a:r>
            <a:r>
              <a:rPr lang="pt-BR" sz="2800" b="1" dirty="0" err="1"/>
              <a:t>Tree</a:t>
            </a:r>
            <a:r>
              <a:rPr lang="pt-BR" sz="2800" b="1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51C50-0B78-D998-54C6-9A021864D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171545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pt-BR" dirty="0"/>
              <a:t>A função Build </a:t>
            </a:r>
            <a:r>
              <a:rPr lang="pt-BR" dirty="0" err="1"/>
              <a:t>constroi</a:t>
            </a:r>
            <a:r>
              <a:rPr lang="pt-BR" dirty="0"/>
              <a:t> uma árvore binária de forma recursiva a partir do vetor inicial.</a:t>
            </a:r>
          </a:p>
          <a:p>
            <a:pPr marL="457200" indent="-457200"/>
            <a:endParaRPr lang="pt-BR"/>
          </a:p>
          <a:p>
            <a:pPr marL="457200" indent="-457200"/>
            <a:r>
              <a:rPr lang="pt-BR" dirty="0"/>
              <a:t>A </a:t>
            </a:r>
            <a:r>
              <a:rPr lang="pt-BR"/>
              <a:t>função Update substitui o valor de uma posição por um novo valor e atualiza os nós afetados</a:t>
            </a:r>
            <a:r>
              <a:rPr lang="pt-BR" dirty="0"/>
              <a:t>.</a:t>
            </a:r>
          </a:p>
          <a:p>
            <a:pPr marL="457200" indent="-457200"/>
            <a:endParaRPr lang="pt-BR" dirty="0"/>
          </a:p>
          <a:p>
            <a:pPr marL="457200" indent="-457200"/>
            <a:r>
              <a:rPr lang="pt-BR"/>
              <a:t>A função Query retorna a soma dos elementos do vetor dentro de um intervalo específico.</a:t>
            </a:r>
            <a:endParaRPr lang="pt-BR" dirty="0"/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12214C97-CC15-1A1D-AE0B-12038606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4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3C2E9-4BAF-04C0-02B7-A2BC280B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660E2-6E63-94F5-9DCC-67D3CE83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153968"/>
            <a:ext cx="5454251" cy="1325563"/>
          </a:xfrm>
        </p:spPr>
        <p:txBody>
          <a:bodyPr/>
          <a:lstStyle/>
          <a:p>
            <a:r>
              <a:rPr lang="pt-BR" sz="2800" b="1" dirty="0" err="1"/>
              <a:t>Có</a:t>
            </a:r>
            <a:r>
              <a:rPr lang="pt-BR" sz="2800" b="1" dirty="0"/>
              <a:t>digo da </a:t>
            </a:r>
            <a:r>
              <a:rPr lang="pt-BR" sz="2800" b="1" dirty="0" err="1"/>
              <a:t>Segment</a:t>
            </a:r>
            <a:r>
              <a:rPr lang="pt-BR" sz="2800" b="1" dirty="0"/>
              <a:t> </a:t>
            </a:r>
            <a:r>
              <a:rPr lang="pt-BR" sz="2800" b="1" dirty="0" err="1"/>
              <a:t>Tree</a:t>
            </a:r>
            <a:r>
              <a:rPr lang="pt-BR" sz="2800" b="1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52F17-7780-BFFE-9C11-402EB415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2333682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1800" b="1" dirty="0" err="1"/>
              <a:t>void</a:t>
            </a:r>
            <a:r>
              <a:rPr lang="pt-BR" sz="1800" dirty="0"/>
              <a:t> build(</a:t>
            </a:r>
            <a:r>
              <a:rPr lang="pt-BR" sz="1800" b="1" dirty="0" err="1"/>
              <a:t>int</a:t>
            </a:r>
            <a:r>
              <a:rPr lang="pt-BR" sz="1800" dirty="0"/>
              <a:t> node, </a:t>
            </a:r>
            <a:r>
              <a:rPr lang="pt-BR" sz="1800" b="1" dirty="0" err="1"/>
              <a:t>int</a:t>
            </a:r>
            <a:r>
              <a:rPr lang="pt-BR" sz="1800" dirty="0"/>
              <a:t> l, </a:t>
            </a:r>
            <a:r>
              <a:rPr lang="pt-BR" sz="1800" b="1" dirty="0" err="1"/>
              <a:t>int</a:t>
            </a:r>
            <a:r>
              <a:rPr lang="pt-BR" sz="1800" dirty="0"/>
              <a:t> r)</a:t>
            </a:r>
          </a:p>
          <a:p>
            <a:pPr marL="0" indent="0">
              <a:buNone/>
            </a:pPr>
            <a:r>
              <a:rPr lang="pt-BR" sz="1800"/>
              <a:t>{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</a:t>
            </a:r>
            <a:r>
              <a:rPr lang="pt-BR" sz="1800" b="1" dirty="0" err="1"/>
              <a:t>if</a:t>
            </a:r>
            <a:r>
              <a:rPr lang="pt-BR" sz="1800" dirty="0"/>
              <a:t> (l == r)</a:t>
            </a:r>
          </a:p>
          <a:p>
            <a:pPr marL="0" indent="0">
              <a:buNone/>
            </a:pPr>
            <a:r>
              <a:rPr lang="pt-BR" sz="1800"/>
              <a:t>   {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        </a:t>
            </a:r>
            <a:r>
              <a:rPr lang="pt-BR" sz="1800" b="1" dirty="0" err="1"/>
              <a:t>tree</a:t>
            </a:r>
            <a:r>
              <a:rPr lang="pt-BR" sz="1800" b="1" dirty="0"/>
              <a:t>[node] = </a:t>
            </a:r>
            <a:r>
              <a:rPr lang="pt-BR" sz="1800" b="1" dirty="0" err="1"/>
              <a:t>vet</a:t>
            </a:r>
            <a:r>
              <a:rPr lang="pt-BR" sz="1800" b="1" dirty="0"/>
              <a:t>[l]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 dirty="0"/>
              <a:t>        </a:t>
            </a:r>
            <a:r>
              <a:rPr lang="pt-BR" sz="1800" b="1" dirty="0" err="1"/>
              <a:t>return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/>
              <a:t>    }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 err="1"/>
              <a:t>int</a:t>
            </a:r>
            <a:r>
              <a:rPr lang="pt-BR" sz="1800" b="1" dirty="0"/>
              <a:t> </a:t>
            </a:r>
            <a:r>
              <a:rPr lang="pt-BR" sz="1800" b="1" dirty="0" err="1"/>
              <a:t>mid</a:t>
            </a:r>
            <a:r>
              <a:rPr lang="pt-BR" sz="1800" dirty="0"/>
              <a:t> = (l + r) / 2;</a:t>
            </a:r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/>
              <a:t>build(2 * node + 1, l, </a:t>
            </a:r>
            <a:r>
              <a:rPr lang="pt-BR" sz="1800" b="1" dirty="0" err="1"/>
              <a:t>mid</a:t>
            </a:r>
            <a:r>
              <a:rPr lang="pt-BR" sz="1800" b="1" dirty="0"/>
              <a:t>)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/>
              <a:t>build(2 * node + 2, </a:t>
            </a:r>
            <a:r>
              <a:rPr lang="pt-BR" sz="1800" b="1" dirty="0" err="1"/>
              <a:t>mid</a:t>
            </a:r>
            <a:r>
              <a:rPr lang="pt-BR" sz="1800" b="1" dirty="0"/>
              <a:t> + 1, r)</a:t>
            </a:r>
            <a:r>
              <a:rPr lang="pt-BR" sz="1800" dirty="0"/>
              <a:t>; </a:t>
            </a:r>
            <a:endParaRPr lang="pt-BR" dirty="0"/>
          </a:p>
          <a:p>
            <a:pPr marL="0" indent="0">
              <a:buNone/>
            </a:pPr>
            <a:r>
              <a:rPr lang="pt-BR" sz="1800" dirty="0"/>
              <a:t>    </a:t>
            </a:r>
            <a:r>
              <a:rPr lang="pt-BR" sz="1800" b="1" dirty="0" err="1"/>
              <a:t>tree</a:t>
            </a:r>
            <a:r>
              <a:rPr lang="pt-BR" sz="1800" b="1" dirty="0"/>
              <a:t>[node]</a:t>
            </a:r>
            <a:r>
              <a:rPr lang="pt-BR" sz="1800" dirty="0"/>
              <a:t> = soma(</a:t>
            </a:r>
            <a:r>
              <a:rPr lang="pt-BR" sz="1800" dirty="0" err="1"/>
              <a:t>tree</a:t>
            </a:r>
            <a:r>
              <a:rPr lang="pt-BR" sz="1800" dirty="0"/>
              <a:t>[2 * node + 1], </a:t>
            </a:r>
            <a:r>
              <a:rPr lang="pt-BR" sz="1800" dirty="0" err="1"/>
              <a:t>tree</a:t>
            </a:r>
            <a:r>
              <a:rPr lang="pt-BR" sz="1800" dirty="0"/>
              <a:t>[2 * node + 2]);</a:t>
            </a:r>
            <a:endParaRPr lang="pt-BR"/>
          </a:p>
          <a:p>
            <a:pPr marL="0" indent="0">
              <a:buNone/>
            </a:pPr>
            <a:r>
              <a:rPr lang="pt-BR" sz="1800"/>
              <a:t>}</a:t>
            </a:r>
            <a:endParaRPr lang="pt-BR" sz="1800" dirty="0"/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88353A05-43A5-3BD8-C14F-49AEBDA07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32DDB85-93CB-8C22-6BA4-BD295A4D2DC1}"/>
              </a:ext>
            </a:extLst>
          </p:cNvPr>
          <p:cNvSpPr txBox="1"/>
          <p:nvPr/>
        </p:nvSpPr>
        <p:spPr>
          <a:xfrm>
            <a:off x="403411" y="1240117"/>
            <a:ext cx="63201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#define</a:t>
            </a:r>
            <a:r>
              <a:rPr lang="pt-BR" dirty="0"/>
              <a:t> MAX 10010</a:t>
            </a:r>
            <a:br>
              <a:rPr lang="pt-BR" dirty="0"/>
            </a:br>
            <a:r>
              <a:rPr lang="pt-BR" b="1" dirty="0"/>
              <a:t>#define</a:t>
            </a:r>
            <a:r>
              <a:rPr lang="pt-BR" dirty="0"/>
              <a:t> NEUTRO 0</a:t>
            </a:r>
            <a:br>
              <a:rPr lang="pt-BR" dirty="0"/>
            </a:br>
            <a:r>
              <a:rPr lang="pt-BR" b="1" dirty="0" err="1"/>
              <a:t>int</a:t>
            </a:r>
            <a:r>
              <a:rPr lang="pt-BR" dirty="0"/>
              <a:t> </a:t>
            </a:r>
            <a:r>
              <a:rPr lang="pt-BR" dirty="0" err="1"/>
              <a:t>vet</a:t>
            </a:r>
            <a:r>
              <a:rPr lang="pt-BR" dirty="0"/>
              <a:t>[MAX], </a:t>
            </a:r>
            <a:r>
              <a:rPr lang="pt-BR" dirty="0" err="1"/>
              <a:t>tree</a:t>
            </a:r>
            <a:r>
              <a:rPr lang="pt-BR" dirty="0"/>
              <a:t>[4 * MAX];</a:t>
            </a:r>
          </a:p>
        </p:txBody>
      </p:sp>
    </p:spTree>
    <p:extLst>
      <p:ext uri="{BB962C8B-B14F-4D97-AF65-F5344CB8AC3E}">
        <p14:creationId xmlns:p14="http://schemas.microsoft.com/office/powerpoint/2010/main" val="225315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F68B-1A62-55C0-55D4-E921CD61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245BAB-69F4-CA0E-B761-AC5BACC1A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28" y="4550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1800" b="1" dirty="0" err="1"/>
              <a:t>void</a:t>
            </a:r>
            <a:r>
              <a:rPr lang="pt-BR" sz="1800" dirty="0"/>
              <a:t> update(</a:t>
            </a:r>
            <a:r>
              <a:rPr lang="pt-BR" sz="1800" dirty="0" err="1"/>
              <a:t>int</a:t>
            </a:r>
            <a:r>
              <a:rPr lang="pt-BR" sz="1800" dirty="0"/>
              <a:t> node, </a:t>
            </a:r>
            <a:r>
              <a:rPr lang="pt-BR" sz="1800" dirty="0" err="1"/>
              <a:t>int</a:t>
            </a:r>
            <a:r>
              <a:rPr lang="pt-BR" sz="1800" dirty="0"/>
              <a:t> </a:t>
            </a:r>
            <a:r>
              <a:rPr lang="pt-BR" sz="1800" dirty="0" err="1"/>
              <a:t>tl</a:t>
            </a:r>
            <a:r>
              <a:rPr lang="pt-BR" sz="1800" dirty="0"/>
              <a:t>, </a:t>
            </a:r>
            <a:r>
              <a:rPr lang="pt-BR" sz="1800" dirty="0" err="1"/>
              <a:t>int</a:t>
            </a:r>
            <a:r>
              <a:rPr lang="pt-BR" sz="1800" dirty="0"/>
              <a:t> </a:t>
            </a:r>
            <a:r>
              <a:rPr lang="pt-BR" sz="1800" dirty="0" err="1"/>
              <a:t>tr</a:t>
            </a:r>
            <a:r>
              <a:rPr lang="pt-BR" sz="1800" dirty="0"/>
              <a:t>, </a:t>
            </a:r>
            <a:r>
              <a:rPr lang="pt-BR" sz="1800" dirty="0" err="1"/>
              <a:t>int</a:t>
            </a:r>
            <a:r>
              <a:rPr lang="pt-BR" sz="1800" dirty="0"/>
              <a:t> </a:t>
            </a:r>
            <a:r>
              <a:rPr lang="pt-BR" sz="1800" dirty="0" err="1"/>
              <a:t>idx</a:t>
            </a:r>
            <a:r>
              <a:rPr lang="pt-BR" sz="1800" dirty="0"/>
              <a:t>, </a:t>
            </a:r>
            <a:r>
              <a:rPr lang="pt-BR" sz="1800" dirty="0" err="1"/>
              <a:t>int</a:t>
            </a:r>
            <a:r>
              <a:rPr lang="pt-BR" sz="1800" dirty="0"/>
              <a:t> v)</a:t>
            </a:r>
          </a:p>
          <a:p>
            <a:pPr marL="0" indent="0">
              <a:buNone/>
            </a:pPr>
            <a:r>
              <a:rPr lang="pt-BR" sz="1800"/>
              <a:t>{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tl</a:t>
            </a:r>
            <a:r>
              <a:rPr lang="pt-BR" sz="1800" dirty="0"/>
              <a:t> == </a:t>
            </a:r>
            <a:r>
              <a:rPr lang="pt-BR" sz="1800" dirty="0" err="1"/>
              <a:t>tr</a:t>
            </a:r>
            <a:r>
              <a:rPr lang="pt-BR" sz="1800" dirty="0"/>
              <a:t>) {</a:t>
            </a:r>
          </a:p>
          <a:p>
            <a:pPr marL="0" indent="0">
              <a:buNone/>
            </a:pPr>
            <a:r>
              <a:rPr lang="pt-BR" sz="1800" dirty="0"/>
              <a:t>        </a:t>
            </a:r>
            <a:r>
              <a:rPr lang="pt-BR" sz="1800" b="1" dirty="0" err="1"/>
              <a:t>tree</a:t>
            </a:r>
            <a:r>
              <a:rPr lang="pt-BR" sz="1800" b="1" dirty="0"/>
              <a:t>[node] </a:t>
            </a:r>
            <a:r>
              <a:rPr lang="pt-BR" sz="1800" dirty="0"/>
              <a:t>= v;</a:t>
            </a:r>
          </a:p>
          <a:p>
            <a:pPr marL="0" indent="0">
              <a:buNone/>
            </a:pPr>
            <a:r>
              <a:rPr lang="pt-BR" sz="1800" dirty="0"/>
              <a:t>        </a:t>
            </a:r>
            <a:r>
              <a:rPr lang="pt-BR" sz="1800" b="1" dirty="0" err="1"/>
              <a:t>return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/>
              <a:t>    }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   </a:t>
            </a:r>
            <a:r>
              <a:rPr lang="pt-BR" sz="1800" b="1" dirty="0"/>
              <a:t> </a:t>
            </a:r>
            <a:r>
              <a:rPr lang="pt-BR" sz="1800" b="1" dirty="0" err="1"/>
              <a:t>int</a:t>
            </a:r>
            <a:r>
              <a:rPr lang="pt-BR" sz="1800" b="1" dirty="0"/>
              <a:t> </a:t>
            </a:r>
            <a:r>
              <a:rPr lang="pt-BR" sz="1800" b="1" dirty="0" err="1"/>
              <a:t>mid</a:t>
            </a:r>
            <a:r>
              <a:rPr lang="pt-BR" sz="1800" dirty="0"/>
              <a:t> = (</a:t>
            </a:r>
            <a:r>
              <a:rPr lang="pt-BR" sz="1800" dirty="0" err="1"/>
              <a:t>tl</a:t>
            </a:r>
            <a:r>
              <a:rPr lang="pt-BR" sz="1800" dirty="0"/>
              <a:t> + </a:t>
            </a:r>
            <a:r>
              <a:rPr lang="pt-BR" sz="1800" dirty="0" err="1"/>
              <a:t>tr</a:t>
            </a:r>
            <a:r>
              <a:rPr lang="pt-BR" sz="1800" dirty="0"/>
              <a:t>) / 2;</a:t>
            </a:r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tl</a:t>
            </a:r>
            <a:r>
              <a:rPr lang="pt-BR" sz="1800" dirty="0"/>
              <a:t> &lt;= </a:t>
            </a:r>
            <a:r>
              <a:rPr lang="pt-BR" sz="1800" dirty="0" err="1"/>
              <a:t>idx</a:t>
            </a:r>
            <a:r>
              <a:rPr lang="pt-BR" sz="1800" dirty="0"/>
              <a:t> &amp;&amp; </a:t>
            </a:r>
            <a:r>
              <a:rPr lang="pt-BR" sz="1800" dirty="0" err="1"/>
              <a:t>idx</a:t>
            </a:r>
            <a:r>
              <a:rPr lang="pt-BR" sz="1800" dirty="0"/>
              <a:t> &lt;= </a:t>
            </a:r>
            <a:r>
              <a:rPr lang="pt-BR" sz="1800" dirty="0" err="1"/>
              <a:t>mid</a:t>
            </a:r>
            <a:r>
              <a:rPr lang="pt-BR" sz="1800" dirty="0"/>
              <a:t>) {</a:t>
            </a:r>
          </a:p>
          <a:p>
            <a:pPr marL="0" indent="0">
              <a:buNone/>
            </a:pPr>
            <a:r>
              <a:rPr lang="pt-BR" sz="1800" dirty="0"/>
              <a:t>       </a:t>
            </a:r>
            <a:r>
              <a:rPr lang="pt-BR" sz="1800" b="1" dirty="0"/>
              <a:t> update(2 * node + 1, </a:t>
            </a:r>
            <a:r>
              <a:rPr lang="pt-BR" sz="1800" b="1" dirty="0" err="1"/>
              <a:t>tl</a:t>
            </a:r>
            <a:r>
              <a:rPr lang="pt-BR" sz="1800" b="1" dirty="0"/>
              <a:t>, </a:t>
            </a:r>
            <a:r>
              <a:rPr lang="pt-BR" sz="1800" b="1" dirty="0" err="1"/>
              <a:t>mid</a:t>
            </a:r>
            <a:r>
              <a:rPr lang="pt-BR" sz="1800" b="1" dirty="0"/>
              <a:t>, </a:t>
            </a:r>
            <a:r>
              <a:rPr lang="pt-BR" sz="1800" b="1" dirty="0" err="1"/>
              <a:t>idx</a:t>
            </a:r>
            <a:r>
              <a:rPr lang="pt-BR" sz="1800" b="1" dirty="0"/>
              <a:t>, v)</a:t>
            </a:r>
            <a:r>
              <a:rPr lang="pt-BR" sz="1800" dirty="0"/>
              <a:t>; </a:t>
            </a:r>
          </a:p>
          <a:p>
            <a:pPr marL="0" indent="0">
              <a:buNone/>
            </a:pPr>
            <a:r>
              <a:rPr lang="pt-BR" sz="1800"/>
              <a:t>    }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</a:t>
            </a:r>
            <a:r>
              <a:rPr lang="pt-BR" sz="1800" b="1" dirty="0"/>
              <a:t> </a:t>
            </a:r>
            <a:r>
              <a:rPr lang="pt-BR" sz="1800" b="1" dirty="0" err="1"/>
              <a:t>else</a:t>
            </a:r>
            <a:r>
              <a:rPr lang="pt-BR" sz="1800" dirty="0"/>
              <a:t> {</a:t>
            </a:r>
          </a:p>
          <a:p>
            <a:pPr marL="0" indent="0">
              <a:buNone/>
            </a:pPr>
            <a:r>
              <a:rPr lang="pt-BR" sz="1800" dirty="0"/>
              <a:t>        </a:t>
            </a:r>
            <a:r>
              <a:rPr lang="pt-BR" sz="1800" b="1" dirty="0"/>
              <a:t>update(2 * node + 2, </a:t>
            </a:r>
            <a:r>
              <a:rPr lang="pt-BR" sz="1800" b="1" dirty="0" err="1"/>
              <a:t>mid</a:t>
            </a:r>
            <a:r>
              <a:rPr lang="pt-BR" sz="1800" b="1" dirty="0"/>
              <a:t> + 1, </a:t>
            </a:r>
            <a:r>
              <a:rPr lang="pt-BR" sz="1800" b="1" dirty="0" err="1"/>
              <a:t>tr</a:t>
            </a:r>
            <a:r>
              <a:rPr lang="pt-BR" sz="1800" b="1" dirty="0"/>
              <a:t>, </a:t>
            </a:r>
            <a:r>
              <a:rPr lang="pt-BR" sz="1800" b="1" dirty="0" err="1"/>
              <a:t>idx</a:t>
            </a:r>
            <a:r>
              <a:rPr lang="pt-BR" sz="1800" b="1" dirty="0"/>
              <a:t>, v)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/>
              <a:t>    }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   </a:t>
            </a:r>
            <a:r>
              <a:rPr lang="pt-BR" sz="1800" b="1" dirty="0"/>
              <a:t> </a:t>
            </a:r>
            <a:r>
              <a:rPr lang="pt-BR" sz="1800" b="1" dirty="0" err="1"/>
              <a:t>tree</a:t>
            </a:r>
            <a:r>
              <a:rPr lang="pt-BR" sz="1800" b="1" dirty="0"/>
              <a:t>[node]</a:t>
            </a:r>
            <a:r>
              <a:rPr lang="pt-BR" sz="1800" dirty="0"/>
              <a:t> = soma(</a:t>
            </a:r>
            <a:r>
              <a:rPr lang="pt-BR" sz="1800" dirty="0" err="1"/>
              <a:t>tree</a:t>
            </a:r>
            <a:r>
              <a:rPr lang="pt-BR" sz="1800" dirty="0"/>
              <a:t>[2 * node + 1], </a:t>
            </a:r>
            <a:r>
              <a:rPr lang="pt-BR" sz="1800" dirty="0" err="1"/>
              <a:t>tree</a:t>
            </a:r>
            <a:r>
              <a:rPr lang="pt-BR" sz="1800" dirty="0"/>
              <a:t>[2 * node + 2]);</a:t>
            </a:r>
          </a:p>
          <a:p>
            <a:pPr marL="0" indent="0">
              <a:buNone/>
            </a:pPr>
            <a:r>
              <a:rPr lang="pt-BR" sz="1800"/>
              <a:t>}</a:t>
            </a:r>
            <a:endParaRPr lang="pt-BR" sz="1800" dirty="0"/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4D52386-C343-917A-B670-52006081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6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139E-104A-4A50-02E4-B73FF79F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A9DF3-9CD3-5ACC-05E5-BB918D1A1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28" y="4550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1800" b="1" dirty="0" err="1"/>
              <a:t>int</a:t>
            </a:r>
            <a:r>
              <a:rPr lang="pt-BR" sz="1800" dirty="0"/>
              <a:t> query(</a:t>
            </a:r>
            <a:r>
              <a:rPr lang="pt-BR" sz="1800" b="1" dirty="0" err="1"/>
              <a:t>int</a:t>
            </a:r>
            <a:r>
              <a:rPr lang="pt-BR" sz="1800" dirty="0"/>
              <a:t> node, </a:t>
            </a:r>
            <a:r>
              <a:rPr lang="pt-BR" sz="1800" b="1" dirty="0" err="1"/>
              <a:t>int</a:t>
            </a:r>
            <a:r>
              <a:rPr lang="pt-BR" sz="1800" dirty="0"/>
              <a:t> </a:t>
            </a:r>
            <a:r>
              <a:rPr lang="pt-BR" sz="1800" dirty="0" err="1"/>
              <a:t>tl</a:t>
            </a:r>
            <a:r>
              <a:rPr lang="pt-BR" sz="1800" dirty="0"/>
              <a:t>, </a:t>
            </a:r>
            <a:r>
              <a:rPr lang="pt-BR" sz="1800" b="1" dirty="0" err="1"/>
              <a:t>int</a:t>
            </a:r>
            <a:r>
              <a:rPr lang="pt-BR" sz="1800" dirty="0"/>
              <a:t> </a:t>
            </a:r>
            <a:r>
              <a:rPr lang="pt-BR" sz="1800" dirty="0" err="1"/>
              <a:t>tr</a:t>
            </a:r>
            <a:r>
              <a:rPr lang="pt-BR" sz="1800" dirty="0"/>
              <a:t>, </a:t>
            </a:r>
            <a:r>
              <a:rPr lang="pt-BR" sz="1800" b="1" dirty="0" err="1"/>
              <a:t>int</a:t>
            </a:r>
            <a:r>
              <a:rPr lang="pt-BR" sz="1800" dirty="0"/>
              <a:t> l, </a:t>
            </a:r>
            <a:r>
              <a:rPr lang="pt-BR" sz="1800" b="1" dirty="0" err="1"/>
              <a:t>int</a:t>
            </a:r>
            <a:r>
              <a:rPr lang="pt-BR" sz="1800" dirty="0"/>
              <a:t> r)</a:t>
            </a:r>
            <a:endParaRPr lang="pt-BR" dirty="0"/>
          </a:p>
          <a:p>
            <a:pPr marL="0" indent="0">
              <a:buNone/>
            </a:pPr>
            <a:r>
              <a:rPr lang="pt-BR" sz="1800"/>
              <a:t>{</a:t>
            </a:r>
            <a:endParaRPr lang="pt-BR"/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 err="1"/>
              <a:t>if</a:t>
            </a:r>
            <a:r>
              <a:rPr lang="pt-BR" sz="1800" dirty="0"/>
              <a:t> (r &lt; </a:t>
            </a:r>
            <a:r>
              <a:rPr lang="pt-BR" sz="1800" dirty="0" err="1"/>
              <a:t>tl</a:t>
            </a:r>
            <a:r>
              <a:rPr lang="pt-BR" sz="1800" dirty="0"/>
              <a:t> || l &gt; </a:t>
            </a:r>
            <a:r>
              <a:rPr lang="pt-BR" sz="1800" dirty="0" err="1"/>
              <a:t>tr</a:t>
            </a:r>
            <a:r>
              <a:rPr lang="pt-BR" sz="1800" dirty="0"/>
              <a:t>)</a:t>
            </a:r>
            <a:endParaRPr lang="pt-BR" dirty="0"/>
          </a:p>
          <a:p>
            <a:pPr marL="0" indent="0">
              <a:buNone/>
            </a:pPr>
            <a:r>
              <a:rPr lang="pt-BR" sz="1800"/>
              <a:t>    {</a:t>
            </a:r>
            <a:endParaRPr lang="pt-BR"/>
          </a:p>
          <a:p>
            <a:pPr marL="0" indent="0">
              <a:buNone/>
            </a:pPr>
            <a:r>
              <a:rPr lang="pt-BR" sz="1800" dirty="0"/>
              <a:t>       </a:t>
            </a:r>
            <a:r>
              <a:rPr lang="pt-BR" sz="1800" b="1" dirty="0"/>
              <a:t> </a:t>
            </a:r>
            <a:r>
              <a:rPr lang="pt-BR" sz="1800" b="1" dirty="0" err="1"/>
              <a:t>return</a:t>
            </a:r>
            <a:r>
              <a:rPr lang="pt-BR" sz="1800" b="1" dirty="0"/>
              <a:t> NEUTRO</a:t>
            </a:r>
            <a:r>
              <a:rPr lang="pt-BR" sz="1800" dirty="0"/>
              <a:t>;</a:t>
            </a:r>
            <a:endParaRPr lang="pt-BR" dirty="0"/>
          </a:p>
          <a:p>
            <a:pPr marL="0" indent="0">
              <a:buNone/>
            </a:pPr>
            <a:r>
              <a:rPr lang="pt-BR" sz="1800"/>
              <a:t>    }</a:t>
            </a:r>
            <a:endParaRPr lang="pt-BR"/>
          </a:p>
          <a:p>
            <a:pPr marL="0" indent="0">
              <a:buNone/>
            </a:pPr>
            <a:r>
              <a:rPr lang="pt-BR" sz="1800" dirty="0"/>
              <a:t>   </a:t>
            </a:r>
            <a:r>
              <a:rPr lang="pt-BR" sz="1800" b="1" dirty="0"/>
              <a:t> </a:t>
            </a:r>
            <a:r>
              <a:rPr lang="pt-BR" sz="1800" b="1" dirty="0" err="1"/>
              <a:t>if</a:t>
            </a:r>
            <a:r>
              <a:rPr lang="pt-BR" sz="1800" dirty="0"/>
              <a:t> (l &lt;= </a:t>
            </a:r>
            <a:r>
              <a:rPr lang="pt-BR" sz="1800" dirty="0" err="1"/>
              <a:t>tl</a:t>
            </a:r>
            <a:r>
              <a:rPr lang="pt-BR" sz="1800" dirty="0"/>
              <a:t>  &amp;&amp; r &gt;= </a:t>
            </a:r>
            <a:r>
              <a:rPr lang="pt-BR" sz="1800" dirty="0" err="1"/>
              <a:t>tr</a:t>
            </a:r>
            <a:r>
              <a:rPr lang="pt-BR" sz="1800" dirty="0"/>
              <a:t>)</a:t>
            </a:r>
            <a:endParaRPr lang="pt-BR" dirty="0"/>
          </a:p>
          <a:p>
            <a:pPr marL="0" indent="0">
              <a:buNone/>
            </a:pPr>
            <a:r>
              <a:rPr lang="pt-BR" sz="1800"/>
              <a:t>    {</a:t>
            </a:r>
            <a:endParaRPr lang="pt-BR"/>
          </a:p>
          <a:p>
            <a:pPr marL="0" indent="0">
              <a:buNone/>
            </a:pPr>
            <a:r>
              <a:rPr lang="pt-BR" sz="1800" dirty="0"/>
              <a:t>       </a:t>
            </a:r>
            <a:r>
              <a:rPr lang="pt-BR" sz="1800" b="1" dirty="0"/>
              <a:t> </a:t>
            </a:r>
            <a:r>
              <a:rPr lang="pt-BR" sz="1800" b="1" dirty="0" err="1"/>
              <a:t>return</a:t>
            </a:r>
            <a:r>
              <a:rPr lang="pt-BR" sz="1800" b="1" dirty="0"/>
              <a:t> </a:t>
            </a:r>
            <a:r>
              <a:rPr lang="pt-BR" sz="1800" b="1" dirty="0" err="1"/>
              <a:t>tree</a:t>
            </a:r>
            <a:r>
              <a:rPr lang="pt-BR" sz="1800" b="1" dirty="0"/>
              <a:t>[node]</a:t>
            </a:r>
            <a:r>
              <a:rPr lang="pt-BR" sz="1800" dirty="0"/>
              <a:t>;</a:t>
            </a:r>
            <a:endParaRPr lang="pt-BR" dirty="0"/>
          </a:p>
          <a:p>
            <a:pPr marL="0" indent="0">
              <a:buNone/>
            </a:pPr>
            <a:r>
              <a:rPr lang="pt-BR" sz="1800"/>
              <a:t>    }</a:t>
            </a:r>
            <a:endParaRPr lang="pt-BR"/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 err="1"/>
              <a:t>int</a:t>
            </a:r>
            <a:r>
              <a:rPr lang="pt-BR" sz="1800" b="1" dirty="0"/>
              <a:t> </a:t>
            </a:r>
            <a:r>
              <a:rPr lang="pt-BR" sz="1800" b="1" dirty="0" err="1"/>
              <a:t>mid</a:t>
            </a:r>
            <a:r>
              <a:rPr lang="pt-BR" sz="1800" dirty="0"/>
              <a:t> = (</a:t>
            </a:r>
            <a:r>
              <a:rPr lang="pt-BR" sz="1800" dirty="0" err="1"/>
              <a:t>tl</a:t>
            </a:r>
            <a:r>
              <a:rPr lang="pt-BR" sz="1800" dirty="0"/>
              <a:t> + </a:t>
            </a:r>
            <a:r>
              <a:rPr lang="pt-BR" sz="1800" dirty="0" err="1"/>
              <a:t>tr</a:t>
            </a:r>
            <a:r>
              <a:rPr lang="pt-BR" sz="1800" dirty="0"/>
              <a:t>) / 2;</a:t>
            </a:r>
            <a:endParaRPr lang="pt-BR" dirty="0"/>
          </a:p>
          <a:p>
            <a:pPr marL="0" indent="0">
              <a:buNone/>
            </a:pPr>
            <a:r>
              <a:rPr lang="pt-BR" sz="1800" dirty="0"/>
              <a:t>    </a:t>
            </a:r>
            <a:r>
              <a:rPr lang="pt-BR" sz="1800" b="1" dirty="0" err="1"/>
              <a:t>return</a:t>
            </a:r>
            <a:r>
              <a:rPr lang="pt-BR" sz="1800" b="1" dirty="0"/>
              <a:t> soma(query(2 * node + 1, </a:t>
            </a:r>
            <a:r>
              <a:rPr lang="pt-BR" sz="1800" b="1" dirty="0" err="1"/>
              <a:t>tl</a:t>
            </a:r>
            <a:r>
              <a:rPr lang="pt-BR" sz="1800" b="1" dirty="0"/>
              <a:t>, </a:t>
            </a:r>
            <a:r>
              <a:rPr lang="pt-BR" sz="1800" b="1" dirty="0" err="1"/>
              <a:t>mid</a:t>
            </a:r>
            <a:r>
              <a:rPr lang="pt-BR" sz="1800" b="1" dirty="0"/>
              <a:t>, l, r), query(2 * node + 2, </a:t>
            </a:r>
            <a:r>
              <a:rPr lang="pt-BR" sz="1800" b="1" dirty="0" err="1"/>
              <a:t>mid</a:t>
            </a:r>
            <a:r>
              <a:rPr lang="pt-BR" sz="1800" b="1" dirty="0"/>
              <a:t> + 1, </a:t>
            </a:r>
            <a:r>
              <a:rPr lang="pt-BR" sz="1800" b="1" dirty="0" err="1"/>
              <a:t>tr</a:t>
            </a:r>
            <a:r>
              <a:rPr lang="pt-BR" sz="1800" b="1" dirty="0"/>
              <a:t>, l, r))</a:t>
            </a:r>
            <a:r>
              <a:rPr lang="pt-BR" sz="1800" dirty="0"/>
              <a:t>;</a:t>
            </a:r>
            <a:endParaRPr lang="pt-BR" dirty="0"/>
          </a:p>
          <a:p>
            <a:pPr marL="0" indent="0">
              <a:buNone/>
            </a:pPr>
            <a:r>
              <a:rPr lang="pt-BR" sz="1800"/>
              <a:t>}</a:t>
            </a:r>
            <a:endParaRPr lang="pt-BR"/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8F1840A3-9E40-C4CC-7CE5-AFA3BC642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37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6860-BFD0-E4EC-1D21-D5CEBBF1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DA9BB3D5-FA01-9655-E248-0EA9EF196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4989" y="6282196"/>
            <a:ext cx="1004142" cy="57322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4C5543B-B4C6-A4E2-9B2B-90F2B5E2B346}"/>
              </a:ext>
            </a:extLst>
          </p:cNvPr>
          <p:cNvSpPr txBox="1"/>
          <p:nvPr/>
        </p:nvSpPr>
        <p:spPr>
          <a:xfrm>
            <a:off x="401536" y="482230"/>
            <a:ext cx="55818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/>
              <a:t>Representação da </a:t>
            </a:r>
            <a:r>
              <a:rPr lang="pt-BR" sz="2800" b="1" dirty="0" err="1"/>
              <a:t>Segment</a:t>
            </a:r>
            <a:r>
              <a:rPr lang="pt-BR" sz="2800" b="1" dirty="0"/>
              <a:t> </a:t>
            </a:r>
            <a:r>
              <a:rPr lang="pt-BR" sz="2800" b="1" dirty="0" err="1"/>
              <a:t>Tree</a:t>
            </a:r>
            <a:r>
              <a:rPr lang="pt-BR" sz="2800" b="1" dirty="0"/>
              <a:t>:</a:t>
            </a:r>
          </a:p>
        </p:txBody>
      </p:sp>
      <p:pic>
        <p:nvPicPr>
          <p:cNvPr id="7" name="arvore_segmentos">
            <a:hlinkClick r:id="" action="ppaction://media"/>
            <a:extLst>
              <a:ext uri="{FF2B5EF4-FFF2-40B4-BE49-F238E27FC236}">
                <a16:creationId xmlns:a16="http://schemas.microsoft.com/office/drawing/2014/main" id="{4D261BA7-CCBD-DF6A-F3C0-CBC6527B6F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7568" y="12573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1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Estruturas de Dados / Programação 2 Seminário Huffman Coding</vt:lpstr>
      <vt:lpstr>A* Algorithm</vt:lpstr>
      <vt:lpstr>Como o A* faz decisões:</vt:lpstr>
      <vt:lpstr>Como o A* funciona:</vt:lpstr>
      <vt:lpstr>Código do A*: </vt:lpstr>
      <vt:lpstr>Apresentação do PowerPoint</vt:lpstr>
      <vt:lpstr>Apresentação do PowerPoint</vt:lpstr>
      <vt:lpstr>Representação do A*:</vt:lpstr>
      <vt:lpstr>Segment Tree</vt:lpstr>
      <vt:lpstr>Como funciona a Segment Tree:</vt:lpstr>
      <vt:lpstr>Código da Segment Tree: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337</cp:revision>
  <dcterms:created xsi:type="dcterms:W3CDTF">2026-10-02T17:26:15Z</dcterms:created>
  <dcterms:modified xsi:type="dcterms:W3CDTF">2026-10-20T03:48:32Z</dcterms:modified>
</cp:coreProperties>
</file>