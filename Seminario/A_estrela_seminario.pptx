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tema: o A* encontra o menor caminho entre dois pontos usando uma estimativa da distância que falta. Depois do slide de capa, entra a história do Dr. Ricardo.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apresentação de Huffman vai começar e o Dr. Ricardo quer pegar um voo antes. Uber cancelou, ele calcula a rota sozinho, em C. Google Maps: 7,7 km pela BR-104 contra 4,9 km em linha reta. Pergunta: se seguisse a linha reta, passaria pela Vila Militar? Não, tem muro. O A* usa a linha reta como palpite, mas respeita as ruas.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olha só para trás (g): acha o menor caminho, mas explora para todo lado. Gulosa olha só para frente (h): rápida, mas cai em rua sem saída. O A* soma os dois. O nome certo da gulosa é Greedy Best-First Search, não BFS (BFS é busca em largura).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é o odômetro desde o IC. h é a linha reta até o aeroporto. f é o palpite do custo total; o A* sempre expande o menor f. Linha reta nunca é maior que o caminho pelas ruas: h admissível garante o menor caminho.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grade é o mapa simplificado: BR-104 na diagonal, AL-404 na horizontal, ruas da Cidade Universitária, Vila Militar e pista bloqueando o terminal, APA do Catolé no sudoeste. Rua = 0, resto = 1. Cada célula tem uns 460 m: a linha reta de 10,77 células dá os 4,9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turma tentar uns segundos. Célula (8, 7), o cruzamento da BR-104 com a AL-404.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não é a linha reta desde o IC: é o custo pelas ruas, (13,12) → (12,11) → (11,10) → (11,9) → (10,8) → (9,7) → (8,7). h ignora as ruas. Esse f vai aparecer na animação, no passo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lê a entrada e chama find_path (o A*) e visualize_path. find_path usa create_node, heuristic, a heap, valid_neighbors e reconstruct_path.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state substitui as duas listas do pseudocódigo: open = está na heap, closed = já expandi. Checar se um vizinho está fechado custa O(1).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heap só responde qual o próximo índice a expandir. A entrada guarda uma cópia do f: se o f do nó melhorar, a entrada antiga continua lá. Isso vira a lazy deletion.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por que não matriz: um malloc só, memória contígua, e um único int identifica a célula na grade, nos nós e na heap. A diagonal pode cortar a quina de obstáculos: valid_neighbors só testa o destino.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disso retorna NULL se a entrada for inválida. Todos os nós num vetor só; a busca nunca cria nó, só atualiza, e por isso o ponteiro parent continua válido.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heap esvaziar sem o aeroporto sair, result fica NULL: não há caminho. Testar o objetivo ao descobrir o vizinho poderia devolver um caminho que não é o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passo se chama relaxamento, como no Dijkstra. A única diferença para o Dijkstra é a prioridade: aqui g + h, lá só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nó só sabe quem é o pai, então a reconstrução anda do objetivo para o início e escreve do fim para o começo do vetor.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Narrar enquanto o GIF roda (1,5 s por passo). Passos 1 a 4: sobe pela rua da Cidade Universitária. Passos 6 a 14: rua sem saída na Vila Militar. Passo 16: lazy deletion de (7, 11). Passo 19: cruzamento (8, 7) com f = 12,76, o da pergunta. Passo 32: terminal sai da heap e o caminho é reconstruído.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direita, a saída real do programa em C com esse mapa. 15,90 células a 460 m dão uns 7,3 km, perto dos 7,7 km do Google Maps. O(E log V): cada aresta pode gerar um heap_push de log V; numa grade, E ≤ 8V.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código, só muda o que entra no f. Dijkstra: 47 células, mesmo custo. Gulosa: 19 células, mas quase 1 km a mais. A*: 30 e o ótimo.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prováveis: por que a euclidiana é admissível; h = 0 vira Dijkstra; por que testar o objetivo só no pop; por que um nó aparece duas vezes na 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SEMINÁRIO · ESTRUTURAS DE DADOS / PROGRAMAÇÃO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Algoritmo A*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9776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Busca do menor caminho guiada por heurística, com implementação em C</a:t>
            </a:r>
            <a:endParaRPr lang="en-US" sz="2200" dirty="0"/>
          </a:p>
        </p:txBody>
      </p:sp>
      <p:sp>
        <p:nvSpPr>
          <p:cNvPr id="5" name="Painel do grupo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Brasões da UFAL e do Instituto de Comput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640080"/>
            <a:ext cx="2377440" cy="1380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897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Cauet Nogueira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cna@ic.ufal.br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1897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Gabriela Lira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4507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glzs@ic.ufal.br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Terence Luan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tlsb@ic.ufal.br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126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Instituto de Computação · Universidade Federal de Alagoas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Dr. Ricardo precisa fugir para o aeroporto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8665F"/>
                </a:solidFill>
              </a:rPr>
              <a:t>A apresentação de Huffman do Dr. Márcio vai começar, e o Dr. Ricardo decidiu que é uma ótima hora para pegar um voo. Ele está no IC, o Uber cancelou e não dá para errar o caminho. Então ele calcula a rota sozinho. Em C, claro.</a:t>
            </a:r>
            <a:endParaRPr lang="en-US" sz="1900" dirty="0"/>
          </a:p>
        </p:txBody>
      </p:sp>
      <p:sp>
        <p:nvSpPr>
          <p:cNvPr id="6" name="Cartão"/>
          <p:cNvSpPr/>
          <p:nvPr/>
        </p:nvSpPr>
        <p:spPr>
          <a:xfrm>
            <a:off x="548640" y="3246120"/>
            <a:ext cx="324612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383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 km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665F"/>
                </a:solidFill>
              </a:rPr>
              <a:t>pela BR-104, uns 14 min de carro (Google Maps)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069080" y="3246120"/>
            <a:ext cx="324612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3383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 km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665F"/>
                </a:solidFill>
              </a:rPr>
              <a:t>em linha reta, se ele fosse de helicóptero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diferença entre os dois números é a ideia do A*: a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linha reta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é uma estimativa barata que nunca passa do caminho real.</a:t>
            </a:r>
            <a:endParaRPr lang="en-US" sz="1700" dirty="0"/>
          </a:p>
        </p:txBody>
      </p:sp>
      <p:pic>
        <p:nvPicPr>
          <p:cNvPr id="13" name="Image 0" descr="Rota no Google Maps do IC até o aeroporto pela BR-10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508760"/>
            <a:ext cx="3767328" cy="51206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863840" y="6492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665F"/>
                </a:solidFill>
              </a:rPr>
              <a:t>Rota real IC → Aeroporto. Imagem: Google Maps.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 QUE É O A*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Dijkstra com senso de direção</a:t>
            </a:r>
            <a:endParaRPr lang="en-US" sz="34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665F"/>
                </a:solidFill>
              </a:rPr>
              <a:t>Expande pelo menor g, o custo já percorrido. Acha o menor caminho, mas explora em todas as direções, inclusive para longe do aeroporto.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46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7200" dirty="0"/>
          </a:p>
        </p:txBody>
      </p:sp>
      <p:sp>
        <p:nvSpPr>
          <p:cNvPr id="9" name="Cartão"/>
          <p:cNvSpPr/>
          <p:nvPr/>
        </p:nvSpPr>
        <p:spPr>
          <a:xfrm>
            <a:off x="429768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gulosa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665F"/>
                </a:solidFill>
              </a:rPr>
              <a:t>Expande pelo menor h, a distância estimada até o destino. É rápida, mas se deixa enganar por ruas sem saída e pode devolver um caminho pior.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4846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200" dirty="0"/>
          </a:p>
        </p:txBody>
      </p:sp>
      <p:sp>
        <p:nvSpPr>
          <p:cNvPr id="13" name="Cartão"/>
          <p:cNvSpPr/>
          <p:nvPr/>
        </p:nvSpPr>
        <p:spPr>
          <a:xfrm>
            <a:off x="804672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210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665F"/>
                </a:solidFill>
              </a:rPr>
              <a:t>Expande pelo menor f = g + h. Junta a pressa da gulosa com a garantia do Dijkstra: se h nunca superestima, o caminho achado é o menor.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4846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COMO O A* DECIDE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f(n) = g(n) + h(n)</a:t>
            </a:r>
            <a:endParaRPr lang="en-US" sz="34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g(n): o que ele já rodou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665F"/>
                </a:solidFill>
              </a:rPr>
              <a:t>Custo real do IC até a célula n. Passo reto custa 1, passo na diagonal custa √2 ≈ 1,41.</a:t>
            </a:r>
            <a:endParaRPr lang="en-US" sz="1700" dirty="0"/>
          </a:p>
        </p:txBody>
      </p:sp>
      <p:sp>
        <p:nvSpPr>
          <p:cNvPr id="8" name="Cartão"/>
          <p:cNvSpPr/>
          <p:nvPr/>
        </p:nvSpPr>
        <p:spPr>
          <a:xfrm>
            <a:off x="4297680" y="1691640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7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h(n): o palpite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423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665F"/>
                </a:solidFill>
              </a:rPr>
              <a:t>Distância em linha reta (euclidiana) de n até o aeroporto. Nunca é maior que o caminho pelas ruas.</a:t>
            </a:r>
            <a:endParaRPr lang="en-US" sz="1700" dirty="0"/>
          </a:p>
        </p:txBody>
      </p:sp>
      <p:sp>
        <p:nvSpPr>
          <p:cNvPr id="11" name="Cartão"/>
          <p:cNvSpPr/>
          <p:nvPr/>
        </p:nvSpPr>
        <p:spPr>
          <a:xfrm>
            <a:off x="8046720" y="1691640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f(n): a prioridade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423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665F"/>
                </a:solidFill>
              </a:rPr>
              <a:t>Estimativa do custo total passando por n. O A* sempre expande primeiro a célula de menor f, o topo da min-heap.</a:t>
            </a:r>
            <a:endParaRPr lang="en-US" sz="1700" dirty="0"/>
          </a:p>
        </p:txBody>
      </p:sp>
      <p:sp>
        <p:nvSpPr>
          <p:cNvPr id="14" name="Cartão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EF6F1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15" name="Placa h"/>
          <p:cNvSpPr/>
          <p:nvPr/>
        </p:nvSpPr>
        <p:spPr>
          <a:xfrm>
            <a:off x="868680" y="5166360"/>
            <a:ext cx="6400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5400">
            <a:solidFill>
              <a:srgbClr val="1521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5166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783080" y="4892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 admissível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(nunca superestima) é o que garante que, quando o aeroporto sai da heap, o caminho dele é o menor possível.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MODELAGEM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Do Google Maps para uma grade 16 × 13</a:t>
            </a:r>
            <a:endParaRPr lang="en-US" sz="3400" dirty="0"/>
          </a:p>
        </p:txBody>
      </p:sp>
      <p:pic>
        <p:nvPicPr>
          <p:cNvPr id="5" name="Image 0" descr="Rota no Google Ma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520440" cy="4782312"/>
          </a:xfrm>
          <a:prstGeom prst="rect">
            <a:avLst/>
          </a:prstGeom>
        </p:spPr>
      </p:pic>
      <p:pic>
        <p:nvPicPr>
          <p:cNvPr id="6" name="Image 1" descr="Mapa simplificado em grade de 16 linhas por 13 colun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00200"/>
            <a:ext cx="3959352" cy="478231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503920" y="169164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Cada célula tem uns 460 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Rua = 0 (livre). Quarteirão, mata, pista e Vila Militar = 1 (obstáculo)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Movimento em 8 direções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Partida: IC (13, 12)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Chegada: terminal (3, 8)</a:t>
            </a:r>
            <a:endParaRPr lang="en-US" sz="1800" dirty="0"/>
          </a:p>
        </p:txBody>
      </p:sp>
      <p:sp>
        <p:nvSpPr>
          <p:cNvPr id="8" name="Momento leve"/>
          <p:cNvSpPr/>
          <p:nvPr/>
        </p:nvSpPr>
        <p:spPr>
          <a:xfrm>
            <a:off x="8503920" y="4983480"/>
            <a:ext cx="3154680" cy="1371600"/>
          </a:xfrm>
          <a:prstGeom prst="roundRect">
            <a:avLst>
              <a:gd name="adj" fmla="val 6667"/>
            </a:avLst>
          </a:prstGeom>
          <a:solidFill>
            <a:srgbClr val="FDF3DC"/>
          </a:solidFill>
          <a:ln w="15875">
            <a:solidFill>
              <a:srgbClr val="E3A10E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668512" y="5074920"/>
            <a:ext cx="2825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200" kern="0" dirty="0">
                <a:solidFill>
                  <a:srgbClr val="9A6A00"/>
                </a:solidFill>
              </a:rPr>
              <a:t>ENQUANTO ISSO...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15211B"/>
                </a:solidFill>
              </a:rPr>
              <a:t>Na grade não tem semáforo, buraco nem engarrafamento. O Dr. Ricardo nunca viu a BR-104 tão livre.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PERGUNTA PARA A TURMA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Quanto valem g, h e f na célula azul?</a:t>
            </a:r>
            <a:endParaRPr lang="en-US" sz="3400" dirty="0"/>
          </a:p>
        </p:txBody>
      </p:sp>
      <p:pic>
        <p:nvPicPr>
          <p:cNvPr id="5" name="Image 0" descr="Mapa com a célula (8, 7) destacada em azu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959352" cy="478231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0" y="17373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Partida: IC (13, 12)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Destino: terminal (3, 8)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Célula azul: (8, 7), cruzamento da BR-104 com a AL-404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Passo reto = 1, diagonal = √2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029200" y="4480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?    h = ?    f = ?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RESPOSTA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 ≈ 7,66 · h ≈ 5,10 · f ≈ 12,76</a:t>
            </a:r>
            <a:endParaRPr lang="en-US" sz="3400" dirty="0"/>
          </a:p>
        </p:txBody>
      </p:sp>
      <p:pic>
        <p:nvPicPr>
          <p:cNvPr id="5" name="Image 0" descr="Animação: caminho de g em verde, linha reta de h em amarelo e a soma 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547872" cy="4873752"/>
          </a:xfrm>
          <a:prstGeom prst="rect">
            <a:avLst/>
          </a:prstGeom>
        </p:spPr>
      </p:pic>
      <p:sp>
        <p:nvSpPr>
          <p:cNvPr id="6" name="Cartão"/>
          <p:cNvSpPr/>
          <p:nvPr/>
        </p:nvSpPr>
        <p:spPr>
          <a:xfrm>
            <a:off x="5029200" y="1691640"/>
            <a:ext cx="658368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303520" y="182880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4√2 + 2 ≈ 7,66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303520" y="23774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665F"/>
                </a:solidFill>
              </a:rPr>
              <a:t>Pelo melhor caminho até ali: 4 passos na diagonal e 2 retos.</a:t>
            </a:r>
            <a:endParaRPr lang="en-US" sz="1600" dirty="0"/>
          </a:p>
        </p:txBody>
      </p:sp>
      <p:sp>
        <p:nvSpPr>
          <p:cNvPr id="9" name="Cartão"/>
          <p:cNvSpPr/>
          <p:nvPr/>
        </p:nvSpPr>
        <p:spPr>
          <a:xfrm>
            <a:off x="5029200" y="3200400"/>
            <a:ext cx="658368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03520" y="33375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7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√(5² + 1²) = √26 ≈ 5,10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303520" y="38862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665F"/>
                </a:solidFill>
              </a:rPr>
              <a:t>Linha reta até o terminal (3, 8): 5 linhas e 1 coluna.</a:t>
            </a:r>
            <a:endParaRPr lang="en-US" sz="1600" dirty="0"/>
          </a:p>
        </p:txBody>
      </p:sp>
      <p:sp>
        <p:nvSpPr>
          <p:cNvPr id="12" name="Cartão"/>
          <p:cNvSpPr/>
          <p:nvPr/>
        </p:nvSpPr>
        <p:spPr>
          <a:xfrm>
            <a:off x="5029200" y="4709160"/>
            <a:ext cx="6583680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03520" y="48463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7,66 + 5,10 ≈ 12,76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5394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665F"/>
                </a:solidFill>
              </a:rPr>
              <a:t>É a prioridade dessa célula na heap.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VISÃO GERAL DO CÓDIGO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Quem chama quem</a:t>
            </a:r>
            <a:endParaRPr lang="en-US" sz="3400" dirty="0"/>
          </a:p>
        </p:txBody>
      </p:sp>
      <p:sp>
        <p:nvSpPr>
          <p:cNvPr id="5" name="main"/>
          <p:cNvSpPr/>
          <p:nvPr/>
        </p:nvSpPr>
        <p:spPr>
          <a:xfrm>
            <a:off x="640080" y="356616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15211B"/>
          </a:solidFill>
          <a:ln w="19050">
            <a:solidFill>
              <a:srgbClr val="15211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566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500" dirty="0"/>
          </a:p>
        </p:txBody>
      </p:sp>
      <p:sp>
        <p:nvSpPr>
          <p:cNvPr id="7" name="find_path"/>
          <p:cNvSpPr/>
          <p:nvPr/>
        </p:nvSpPr>
        <p:spPr>
          <a:xfrm>
            <a:off x="3017520" y="210312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0A6A42"/>
          </a:solidFill>
          <a:ln w="19050">
            <a:solidFill>
              <a:srgbClr val="0A6A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find_path</a:t>
            </a:r>
            <a:endParaRPr lang="en-US" sz="1500" dirty="0"/>
          </a:p>
        </p:txBody>
      </p:sp>
      <p:sp>
        <p:nvSpPr>
          <p:cNvPr id="9" name="visualize_path"/>
          <p:cNvSpPr/>
          <p:nvPr/>
        </p:nvSpPr>
        <p:spPr>
          <a:xfrm>
            <a:off x="3017520" y="502920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5211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17520" y="5029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visualize_path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flipV="1">
            <a:off x="2103120" y="2514600"/>
            <a:ext cx="914400" cy="1188720"/>
          </a:xfrm>
          <a:prstGeom prst="line">
            <a:avLst/>
          </a:prstGeom>
          <a:noFill/>
          <a:ln w="22225">
            <a:solidFill>
              <a:srgbClr val="58665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03120" y="3977640"/>
            <a:ext cx="914400" cy="1280160"/>
          </a:xfrm>
          <a:prstGeom prst="line">
            <a:avLst/>
          </a:prstGeom>
          <a:noFill/>
          <a:ln w="22225">
            <a:solidFill>
              <a:srgbClr val="58665F"/>
            </a:solidFill>
            <a:prstDash val="solid"/>
            <a:tailEnd type="triangle"/>
          </a:ln>
        </p:spPr>
      </p:sp>
      <p:sp>
        <p:nvSpPr>
          <p:cNvPr id="13" name="create_node"/>
          <p:cNvSpPr/>
          <p:nvPr/>
        </p:nvSpPr>
        <p:spPr>
          <a:xfrm>
            <a:off x="6035040" y="160020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6DD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create_node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 flipV="1">
            <a:off x="5120640" y="1874520"/>
            <a:ext cx="914400" cy="502920"/>
          </a:xfrm>
          <a:prstGeom prst="line">
            <a:avLst/>
          </a:prstGeom>
          <a:noFill/>
          <a:ln w="22225">
            <a:solidFill>
              <a:srgbClr val="58665F"/>
            </a:solidFill>
            <a:prstDash val="solid"/>
            <a:tailEnd type="triangle"/>
          </a:ln>
        </p:spPr>
      </p:sp>
      <p:sp>
        <p:nvSpPr>
          <p:cNvPr id="16" name="heuristic"/>
          <p:cNvSpPr/>
          <p:nvPr/>
        </p:nvSpPr>
        <p:spPr>
          <a:xfrm>
            <a:off x="6035040" y="237744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6DD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120640" y="2377440"/>
            <a:ext cx="914400" cy="274320"/>
          </a:xfrm>
          <a:prstGeom prst="line">
            <a:avLst/>
          </a:prstGeom>
          <a:noFill/>
          <a:ln w="22225">
            <a:solidFill>
              <a:srgbClr val="58665F"/>
            </a:solidFill>
            <a:prstDash val="solid"/>
            <a:tailEnd type="triangle"/>
          </a:ln>
        </p:spPr>
      </p:sp>
      <p:sp>
        <p:nvSpPr>
          <p:cNvPr id="19" name="heap_push / heap_pop"/>
          <p:cNvSpPr/>
          <p:nvPr/>
        </p:nvSpPr>
        <p:spPr>
          <a:xfrm>
            <a:off x="6035040" y="315468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FBE7B5"/>
          </a:solidFill>
          <a:ln w="19050">
            <a:solidFill>
              <a:srgbClr val="E3A10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350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heap_push / heap_pop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120640" y="2377440"/>
            <a:ext cx="914400" cy="1051560"/>
          </a:xfrm>
          <a:prstGeom prst="line">
            <a:avLst/>
          </a:prstGeom>
          <a:noFill/>
          <a:ln w="22225">
            <a:solidFill>
              <a:srgbClr val="58665F"/>
            </a:solidFill>
            <a:prstDash val="solid"/>
            <a:tailEnd type="triangle"/>
          </a:ln>
        </p:spPr>
      </p:sp>
      <p:sp>
        <p:nvSpPr>
          <p:cNvPr id="22" name="valid_neighbors"/>
          <p:cNvSpPr/>
          <p:nvPr/>
        </p:nvSpPr>
        <p:spPr>
          <a:xfrm>
            <a:off x="6035040" y="393192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6DD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valid_neighbors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20640" y="2377440"/>
            <a:ext cx="914400" cy="1828800"/>
          </a:xfrm>
          <a:prstGeom prst="line">
            <a:avLst/>
          </a:prstGeom>
          <a:noFill/>
          <a:ln w="22225">
            <a:solidFill>
              <a:srgbClr val="58665F"/>
            </a:solidFill>
            <a:prstDash val="solid"/>
            <a:tailEnd type="triangle"/>
          </a:ln>
        </p:spPr>
      </p:sp>
      <p:sp>
        <p:nvSpPr>
          <p:cNvPr id="25" name="reconstruct_path"/>
          <p:cNvSpPr/>
          <p:nvPr/>
        </p:nvSpPr>
        <p:spPr>
          <a:xfrm>
            <a:off x="6035040" y="470916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6DD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35040" y="4709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reconstruct_path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120640" y="2377440"/>
            <a:ext cx="914400" cy="2606040"/>
          </a:xfrm>
          <a:prstGeom prst="line">
            <a:avLst/>
          </a:prstGeom>
          <a:noFill/>
          <a:ln w="22225">
            <a:solidFill>
              <a:srgbClr val="58665F"/>
            </a:solidFill>
            <a:prstDash val="solid"/>
            <a:tailEnd type="triangle"/>
          </a:ln>
        </p:spPr>
      </p:sp>
      <p:sp>
        <p:nvSpPr>
          <p:cNvPr id="28" name="Marcador 1"/>
          <p:cNvSpPr/>
          <p:nvPr/>
        </p:nvSpPr>
        <p:spPr>
          <a:xfrm>
            <a:off x="9235440" y="18470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3544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692640" y="179222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main lê a grade, os obstáculos, a partida e a chegada.</a:t>
            </a:r>
            <a:endParaRPr lang="en-US" sz="1500" dirty="0"/>
          </a:p>
        </p:txBody>
      </p:sp>
      <p:sp>
        <p:nvSpPr>
          <p:cNvPr id="31" name="Marcador 2"/>
          <p:cNvSpPr/>
          <p:nvPr/>
        </p:nvSpPr>
        <p:spPr>
          <a:xfrm>
            <a:off x="9235440" y="282549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3544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692640" y="277063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find_path é o A* em si e usa todas as funções auxiliares.</a:t>
            </a:r>
            <a:endParaRPr lang="en-US" sz="1500" dirty="0"/>
          </a:p>
        </p:txBody>
      </p:sp>
      <p:sp>
        <p:nvSpPr>
          <p:cNvPr id="34" name="Marcador 3"/>
          <p:cNvSpPr/>
          <p:nvPr/>
        </p:nvSpPr>
        <p:spPr>
          <a:xfrm>
            <a:off x="9235440" y="380390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235440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9692640" y="37490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visualize_path desenha o resultado com #, *, S e 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ESTRUTURAS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Cada célula da grade vira um node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4937760" cy="4937760"/>
          </a:xfrm>
          <a:prstGeom prst="roundRect">
            <a:avLst>
              <a:gd name="adj" fmla="val 2222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4754880" cy="479145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node_state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node_unseen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node_open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node_closed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node_state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node_state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7" name="Marcador 1"/>
          <p:cNvSpPr/>
          <p:nvPr/>
        </p:nvSpPr>
        <p:spPr>
          <a:xfrm>
            <a:off x="5943600" y="17099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6550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Position: linha x e coluna y.</a:t>
            </a:r>
            <a:endParaRPr lang="en-US" sz="1800" dirty="0"/>
          </a:p>
        </p:txBody>
      </p:sp>
      <p:sp>
        <p:nvSpPr>
          <p:cNvPr id="10" name="Marcador 2"/>
          <p:cNvSpPr/>
          <p:nvPr/>
        </p:nvSpPr>
        <p:spPr>
          <a:xfrm>
            <a:off x="5943600" y="23957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34086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node_state troca as duas listas do pseudocódigo: node_open está na heap e node_closed já foi expandido. Checar isso custa O(1).</a:t>
            </a:r>
            <a:endParaRPr lang="en-US" sz="1800" dirty="0"/>
          </a:p>
        </p:txBody>
      </p:sp>
      <p:sp>
        <p:nvSpPr>
          <p:cNvPr id="13" name="Marcador 3"/>
          <p:cNvSpPr/>
          <p:nvPr/>
        </p:nvSpPr>
        <p:spPr>
          <a:xfrm>
            <a:off x="5943600" y="37673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3767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7124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g, h e f guardam os custos do slide anterior.</a:t>
            </a:r>
            <a:endParaRPr lang="en-US" sz="1800" dirty="0"/>
          </a:p>
        </p:txBody>
      </p:sp>
      <p:sp>
        <p:nvSpPr>
          <p:cNvPr id="16" name="Marcador 4"/>
          <p:cNvSpPr/>
          <p:nvPr/>
        </p:nvSpPr>
        <p:spPr>
          <a:xfrm>
            <a:off x="5943600" y="44531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39826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parent aponta para a célula de onde ele veio. No fim, basta seguir os parents do aeroporto até o IC.</a:t>
            </a:r>
            <a:endParaRPr lang="en-US" sz="1800" dirty="0"/>
          </a:p>
        </p:txBody>
      </p:sp>
      <p:sp>
        <p:nvSpPr>
          <p:cNvPr id="19" name="Momento leve"/>
          <p:cNvSpPr/>
          <p:nvPr/>
        </p:nvSpPr>
        <p:spPr>
          <a:xfrm>
            <a:off x="5943600" y="534924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FDF3DC"/>
          </a:solidFill>
          <a:ln w="15875">
            <a:solidFill>
              <a:srgbClr val="E3A10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08192" y="5440680"/>
            <a:ext cx="5340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200" kern="0" dirty="0">
                <a:solidFill>
                  <a:srgbClr val="9A6A00"/>
                </a:solidFill>
              </a:rPr>
              <a:t>ENQUANTO ISSO...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15211B"/>
                </a:solidFill>
              </a:rPr>
              <a:t>node_closed é esquina já visitada. O Dr. Ricardo não passa duas vezes na frente do IC: vai que o Dr. Márcio está na porta.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FILA DE PRIORIDADE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min-heap entrega sempre o menor f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4937760" cy="3017520"/>
          </a:xfrm>
          <a:prstGeom prst="roundRect">
            <a:avLst>
              <a:gd name="adj" fmla="val 3636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4754880" cy="287121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heap_entry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heap_entry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min_heap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heap_entry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min_heap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 flipH="1">
            <a:off x="2103120" y="5257800"/>
            <a:ext cx="914400" cy="457200"/>
          </a:xfrm>
          <a:prstGeom prst="line">
            <a:avLst/>
          </a:prstGeom>
          <a:noFill/>
          <a:ln w="12700">
            <a:solidFill>
              <a:srgbClr val="5866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17520" y="5257800"/>
            <a:ext cx="914400" cy="457200"/>
          </a:xfrm>
          <a:prstGeom prst="line">
            <a:avLst/>
          </a:prstGeom>
          <a:noFill/>
          <a:ln w="12700">
            <a:solidFill>
              <a:srgbClr val="5866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1600200" y="5989320"/>
            <a:ext cx="502920" cy="274320"/>
          </a:xfrm>
          <a:prstGeom prst="line">
            <a:avLst/>
          </a:prstGeom>
          <a:noFill/>
          <a:ln w="12700">
            <a:solidFill>
              <a:srgbClr val="5866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03120" y="5989320"/>
            <a:ext cx="502920" cy="274320"/>
          </a:xfrm>
          <a:prstGeom prst="line">
            <a:avLst/>
          </a:prstGeom>
          <a:noFill/>
          <a:ln w="12700">
            <a:solidFill>
              <a:srgbClr val="5866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4846320"/>
            <a:ext cx="548640" cy="548640"/>
          </a:xfrm>
          <a:prstGeom prst="ellipse">
            <a:avLst/>
          </a:prstGeom>
          <a:solidFill>
            <a:srgbClr val="E3A10E"/>
          </a:solidFill>
          <a:ln w="19050">
            <a:solidFill>
              <a:srgbClr val="E3A10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4320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828800" y="5486400"/>
            <a:ext cx="548640" cy="548640"/>
          </a:xfrm>
          <a:prstGeom prst="ellipse">
            <a:avLst/>
          </a:prstGeom>
          <a:solidFill>
            <a:srgbClr val="FBE7B5"/>
          </a:solidFill>
          <a:ln w="19050">
            <a:solidFill>
              <a:srgbClr val="E3A10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2880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0" y="5486400"/>
            <a:ext cx="548640" cy="548640"/>
          </a:xfrm>
          <a:prstGeom prst="ellipse">
            <a:avLst/>
          </a:prstGeom>
          <a:solidFill>
            <a:srgbClr val="FBE7B5"/>
          </a:solidFill>
          <a:ln w="19050">
            <a:solidFill>
              <a:srgbClr val="E3A10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325880" y="60350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D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25880" y="6035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331720" y="60350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DD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331720" y="6035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343400" y="5623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 = (i - 1) /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6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filhos = 2i + 1 e 2i + 2</a:t>
            </a:r>
            <a:endParaRPr lang="en-US" sz="1100" dirty="0"/>
          </a:p>
        </p:txBody>
      </p:sp>
      <p:sp>
        <p:nvSpPr>
          <p:cNvPr id="22" name="Marcador 1"/>
          <p:cNvSpPr/>
          <p:nvPr/>
        </p:nvSpPr>
        <p:spPr>
          <a:xfrm>
            <a:off x="5943600" y="17099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16550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entrada guarda uma cópia do f e o índice do nó, não um ponteiro.</a:t>
            </a:r>
            <a:endParaRPr lang="en-US" sz="1800" dirty="0"/>
          </a:p>
        </p:txBody>
      </p:sp>
      <p:sp>
        <p:nvSpPr>
          <p:cNvPr id="25" name="Marcador 2"/>
          <p:cNvSpPr/>
          <p:nvPr/>
        </p:nvSpPr>
        <p:spPr>
          <a:xfrm>
            <a:off x="5943600" y="24871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43230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heap_push põe no fim e sobe enquanto o pai tiver f maior (sift-up). Se encher, dobra com realloc.</a:t>
            </a:r>
            <a:endParaRPr lang="en-US" sz="1800" dirty="0"/>
          </a:p>
        </p:txBody>
      </p:sp>
      <p:sp>
        <p:nvSpPr>
          <p:cNvPr id="28" name="Marcador 3"/>
          <p:cNvSpPr/>
          <p:nvPr/>
        </p:nvSpPr>
        <p:spPr>
          <a:xfrm>
            <a:off x="5943600" y="35844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352958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heap_pop tira a raiz, leva o último elemento para o topo e desce pelo filho menor (sift-down).</a:t>
            </a:r>
            <a:endParaRPr lang="en-US" sz="1800" dirty="0"/>
          </a:p>
        </p:txBody>
      </p:sp>
      <p:sp>
        <p:nvSpPr>
          <p:cNvPr id="31" name="Marcador 4"/>
          <p:cNvSpPr/>
          <p:nvPr/>
        </p:nvSpPr>
        <p:spPr>
          <a:xfrm>
            <a:off x="5943600" y="46817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43600" y="4681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62686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Os dois custam O(log n). Em vez de trocar elementos, o código abre um buraco e escreve o valor uma vez só.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GRADE E VIZINHOS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Uma célula, um int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5852160" cy="433425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collums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91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(x, y) -&gt; índice */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91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vizinho válido: dentro da grade e grid == 0 */</a:t>
            </a:r>
            <a:endParaRPr lang="en-US" sz="1300" dirty="0"/>
          </a:p>
        </p:txBody>
      </p:sp>
      <p:sp>
        <p:nvSpPr>
          <p:cNvPr id="7" name="Marcador 1"/>
          <p:cNvSpPr/>
          <p:nvPr/>
        </p:nvSpPr>
        <p:spPr>
          <a:xfrm>
            <a:off x="6949440" y="17099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1655064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grade é um vetor só: x · collums pula x linhas e + y anda até a coluna. O IC (13, 12) é o índice 13 · 13 + 12 = 181.</a:t>
            </a:r>
            <a:endParaRPr lang="en-US" sz="1700" dirty="0"/>
          </a:p>
        </p:txBody>
      </p:sp>
      <p:sp>
        <p:nvSpPr>
          <p:cNvPr id="10" name="Marcador 2"/>
          <p:cNvSpPr/>
          <p:nvPr/>
        </p:nvSpPr>
        <p:spPr>
          <a:xfrm>
            <a:off x="6949440" y="30358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29809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mesmo índice serve para grid, nodes e heap. Por isso a heap guarda só um int.</a:t>
            </a:r>
            <a:endParaRPr lang="en-US" sz="1700" dirty="0"/>
          </a:p>
        </p:txBody>
      </p:sp>
      <p:sp>
        <p:nvSpPr>
          <p:cNvPr id="13" name="Marcador 3"/>
          <p:cNvSpPr/>
          <p:nvPr/>
        </p:nvSpPr>
        <p:spPr>
          <a:xfrm>
            <a:off x="6949440" y="40873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403250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heuristic é a distância euclidiana. Entre vizinhos dá 1 ou √2, então também é o custo do passo.</a:t>
            </a:r>
            <a:endParaRPr lang="en-US" sz="1700" dirty="0"/>
          </a:p>
        </p:txBody>
      </p:sp>
      <p:sp>
        <p:nvSpPr>
          <p:cNvPr id="16" name="Marcador 4"/>
          <p:cNvSpPr/>
          <p:nvPr/>
        </p:nvSpPr>
        <p:spPr>
          <a:xfrm>
            <a:off x="6949440" y="51389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5138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508406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valid_neighbors testa os 8 movimentos e devolve só os que caem numa rua.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FIND_PATH (1/3)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Preparar: ninguém sabe chegar a lugar nenhum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7406640" cy="4754880"/>
          </a:xfrm>
          <a:prstGeom prst="roundRect">
            <a:avLst>
              <a:gd name="adj" fmla="val 2308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7223760" cy="460857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collums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collums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create_node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start_index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collums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start_index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create_node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start_index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node_open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min_heap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open_list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heap_begin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open_list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heap_push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open_list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start_index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start_index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7" name="Marcador 1"/>
          <p:cNvSpPr/>
          <p:nvPr/>
        </p:nvSpPr>
        <p:spPr>
          <a:xfrm>
            <a:off x="8183880" y="17099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1655064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Antes disso, retorna NULL se a grade for inválida ou se IC ou aeroporto estiverem fora dela ou num obstáculo.</a:t>
            </a:r>
            <a:endParaRPr lang="en-US" sz="1500" dirty="0"/>
          </a:p>
        </p:txBody>
      </p:sp>
      <p:sp>
        <p:nvSpPr>
          <p:cNvPr id="10" name="Marcador 2"/>
          <p:cNvSpPr/>
          <p:nvPr/>
        </p:nvSpPr>
        <p:spPr>
          <a:xfrm>
            <a:off x="8183880" y="30358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298094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Todo nó começa com g = ∞: "ainda não sei chegar aqui". Qualquer caminho real será menor.</a:t>
            </a:r>
            <a:endParaRPr lang="en-US" sz="1500" dirty="0"/>
          </a:p>
        </p:txBody>
      </p:sp>
      <p:sp>
        <p:nvSpPr>
          <p:cNvPr id="13" name="Marcador 3"/>
          <p:cNvSpPr/>
          <p:nvPr/>
        </p:nvSpPr>
        <p:spPr>
          <a:xfrm>
            <a:off x="8183880" y="40873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403250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IC recebe g = 0 e h = 10,77 (uns 4,9 km em linha reta).</a:t>
            </a:r>
            <a:endParaRPr lang="en-US" sz="1500" dirty="0"/>
          </a:p>
        </p:txBody>
      </p:sp>
      <p:sp>
        <p:nvSpPr>
          <p:cNvPr id="16" name="Marcador 4"/>
          <p:cNvSpPr/>
          <p:nvPr/>
        </p:nvSpPr>
        <p:spPr>
          <a:xfrm>
            <a:off x="8183880" y="48646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8388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480974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Ele é o único nó na heap quando a busca começa.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FIND_PATH (2/3)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Tirar da heap o mais promissor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6949440" cy="4846320"/>
          </a:xfrm>
          <a:prstGeom prst="roundRect">
            <a:avLst>
              <a:gd name="adj" fmla="val 2264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6766560" cy="470001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open_list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heap_entry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heap_pop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open_list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&amp;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node_closed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reconstruct_path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path_length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node_closed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  <p:sp>
        <p:nvSpPr>
          <p:cNvPr id="7" name="Marcador 1"/>
          <p:cNvSpPr/>
          <p:nvPr/>
        </p:nvSpPr>
        <p:spPr>
          <a:xfrm>
            <a:off x="7635240" y="17099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3524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55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heap_pop devolve a célula de menor f.</a:t>
            </a:r>
            <a:endParaRPr lang="en-US" sz="1600" dirty="0"/>
          </a:p>
        </p:txBody>
      </p:sp>
      <p:sp>
        <p:nvSpPr>
          <p:cNvPr id="10" name="Marcador 2"/>
          <p:cNvSpPr/>
          <p:nvPr/>
        </p:nvSpPr>
        <p:spPr>
          <a:xfrm>
            <a:off x="7635240" y="23042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249424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Já fechada? Pula. É uma entrada antiga de um nó que ganhou caminho melhor depois. Isso é lazy deletion.</a:t>
            </a:r>
            <a:endParaRPr lang="en-US" sz="1600" dirty="0"/>
          </a:p>
        </p:txBody>
      </p:sp>
      <p:sp>
        <p:nvSpPr>
          <p:cNvPr id="13" name="Marcador 3"/>
          <p:cNvSpPr/>
          <p:nvPr/>
        </p:nvSpPr>
        <p:spPr>
          <a:xfrm>
            <a:off x="7635240" y="36758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3524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621024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 o aeroporto? Para. O teste é feito ao tirar da heap, não ao descobrir: só aí ninguém com f menor está esperando.</a:t>
            </a:r>
            <a:endParaRPr lang="en-US" sz="1600" dirty="0"/>
          </a:p>
        </p:txBody>
      </p:sp>
      <p:sp>
        <p:nvSpPr>
          <p:cNvPr id="16" name="Marcador 4"/>
          <p:cNvSpPr/>
          <p:nvPr/>
        </p:nvSpPr>
        <p:spPr>
          <a:xfrm>
            <a:off x="7635240" y="50474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9926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Senão, fecha a célula e olha os vizinhos.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FIND_PATH (3/3)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Relaxar os vizinhos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7680960" cy="4937760"/>
          </a:xfrm>
          <a:prstGeom prst="roundRect">
            <a:avLst>
              <a:gd name="adj" fmla="val 2222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7498080" cy="479145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n_count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valid_neighbors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collums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n_count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&amp;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collums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node_closed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tentative_g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node_unseen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tentative_g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tentative_g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node_open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heap_push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open_list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collums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Marcador 1"/>
          <p:cNvSpPr/>
          <p:nvPr/>
        </p:nvSpPr>
        <p:spPr>
          <a:xfrm>
            <a:off x="8503920" y="17099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0392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1655064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tentative_g: quanto custaria chegar no vizinho passando pela célula atual.</a:t>
            </a:r>
            <a:endParaRPr lang="en-US" sz="1500" dirty="0"/>
          </a:p>
        </p:txBody>
      </p:sp>
      <p:sp>
        <p:nvSpPr>
          <p:cNvPr id="10" name="Marcador 2"/>
          <p:cNvSpPr/>
          <p:nvPr/>
        </p:nvSpPr>
        <p:spPr>
          <a:xfrm>
            <a:off x="8503920" y="27614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0392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2706624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Atualiza se o vizinho é novo ou se esse caminho é mais barato.</a:t>
            </a:r>
            <a:endParaRPr lang="en-US" sz="1500" dirty="0"/>
          </a:p>
        </p:txBody>
      </p:sp>
      <p:sp>
        <p:nvSpPr>
          <p:cNvPr id="13" name="Marcador 3"/>
          <p:cNvSpPr/>
          <p:nvPr/>
        </p:nvSpPr>
        <p:spPr>
          <a:xfrm>
            <a:off x="8503920" y="38130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0" y="375818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parent = current grava "vim daqui".</a:t>
            </a:r>
            <a:endParaRPr lang="en-US" sz="1500" dirty="0"/>
          </a:p>
        </p:txBody>
      </p:sp>
      <p:sp>
        <p:nvSpPr>
          <p:cNvPr id="16" name="Marcador 4"/>
          <p:cNvSpPr/>
          <p:nvPr/>
        </p:nvSpPr>
        <p:spPr>
          <a:xfrm>
            <a:off x="8503920" y="45902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0392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4535424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Empurra uma entrada nova. A antiga vira lixo e cai no continue depois.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RESULTADO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Voltar pelos parents e desenhar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6949440" cy="3840480"/>
          </a:xfrm>
          <a:prstGeom prst="roundRect">
            <a:avLst>
              <a:gd name="adj" fmla="val 2857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6766560" cy="369417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goal_node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*)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goal_node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--]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Marcador 1"/>
          <p:cNvSpPr/>
          <p:nvPr/>
        </p:nvSpPr>
        <p:spPr>
          <a:xfrm>
            <a:off x="7635240" y="170992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3524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65506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Primeira volta: conta quantas células tem o caminho, do aeroporto até o IC (o IC tem parent = NULL).</a:t>
            </a:r>
            <a:endParaRPr lang="en-US" sz="1600" dirty="0"/>
          </a:p>
        </p:txBody>
      </p:sp>
      <p:sp>
        <p:nvSpPr>
          <p:cNvPr id="10" name="Marcador 2"/>
          <p:cNvSpPr/>
          <p:nvPr/>
        </p:nvSpPr>
        <p:spPr>
          <a:xfrm>
            <a:off x="7635240" y="27614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70662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Segunda volta: preenche o vetor de trás para frente, para sair na ordem IC → aeroporto.</a:t>
            </a:r>
            <a:endParaRPr lang="en-US" sz="1600" dirty="0"/>
          </a:p>
        </p:txBody>
      </p:sp>
      <p:sp>
        <p:nvSpPr>
          <p:cNvPr id="13" name="Marcador 3"/>
          <p:cNvSpPr/>
          <p:nvPr/>
        </p:nvSpPr>
        <p:spPr>
          <a:xfrm>
            <a:off x="7635240" y="38130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3524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75818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posições são copiadas porque o find_path dá free(nodes) logo depois.</a:t>
            </a:r>
            <a:endParaRPr lang="en-US" sz="1600" dirty="0"/>
          </a:p>
        </p:txBody>
      </p:sp>
      <p:sp>
        <p:nvSpPr>
          <p:cNvPr id="16" name="Marcador 4"/>
          <p:cNvSpPr/>
          <p:nvPr/>
        </p:nvSpPr>
        <p:spPr>
          <a:xfrm>
            <a:off x="7635240" y="48646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80974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visualize_path monta um canvas de char: # obstáculo, * caminho, S e 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imação do A* expandindo células do IC até o terminal do aeropor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11183112" cy="62910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RESULTADO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Dr. Ricardo escapa a tempo</a:t>
            </a:r>
            <a:endParaRPr lang="en-US" sz="34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23317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665F"/>
                </a:solidFill>
              </a:rPr>
              <a:t>células de custo, uns 7,3 km (Google Maps: 7,7 km)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3063240" y="1645920"/>
            <a:ext cx="23317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665F"/>
                </a:solidFill>
              </a:rPr>
              <a:t>células expandidas de 49 ruas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5577840" y="1645920"/>
            <a:ext cx="233172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665F"/>
                </a:solidFill>
              </a:rPr>
              <a:t>entrada velha descartada pelo continue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7947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Rota: rua da Cidade Universitária, BR-104 e acesso ao terminal, o mesmo corredor do Google Maps.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rua sem saída da Vila Militar foi testada e abandonada.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Complexidade com heap: O(E log V) de tempo e O(V) de memória.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83880" y="1554480"/>
            <a:ext cx="3474720" cy="4892040"/>
          </a:xfrm>
          <a:prstGeom prst="roundRect">
            <a:avLst>
              <a:gd name="adj" fmla="val 3158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16" name="Saída do programa"/>
          <p:cNvSpPr txBox="1"/>
          <p:nvPr/>
        </p:nvSpPr>
        <p:spPr>
          <a:xfrm>
            <a:off x="8275320" y="1645920"/>
            <a:ext cx="3291840" cy="4709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Caminho encontrado com 14 posicoes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 Pathfinding 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. # # # # # # #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. # # # # # # #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. # # # # # # #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. . * * G # # #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* # # # # # #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 . . . * # # # # # #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. # # # * # # . . .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. # # # * # # # # .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 . . . . . * . . . .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# # * # # # .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# # # * # # .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# # # . * * .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# # # # . # *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# # # # . # # 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# # # # # . # #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# # # # # . # #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 SE NÃO FOSSE O A*?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Sem o h, nada eficiente. Só com o h, caminho pior</a:t>
            </a:r>
            <a:endParaRPr lang="en-US" sz="3400" dirty="0"/>
          </a:p>
        </p:txBody>
      </p:sp>
      <p:pic>
        <p:nvPicPr>
          <p:cNvPr id="5" name="Image 0" descr="Comparação de Dijkstra, busca gulosa e A* no mesmo ma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10515600" cy="51572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A*"/>
          <p:cNvSpPr/>
          <p:nvPr/>
        </p:nvSpPr>
        <p:spPr>
          <a:xfrm>
            <a:off x="640080" y="1325880"/>
            <a:ext cx="100584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5400">
            <a:solidFill>
              <a:srgbClr val="15211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25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Perguntas?</a:t>
            </a:r>
            <a:endParaRPr lang="en-US" sz="6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9776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Graças ao A*, o Dr. Ricardo chegou ao aeroporto com folga. Aí o voo atrasou uma hora, e o Dr. Márcio mandou o link da apresentação de Huffman ao vivo.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dovia IC">
  <a:themeElements>
    <a:clrScheme name="Rodovia IC">
      <a:dk1>
        <a:srgbClr val="15211B"/>
      </a:dk1>
      <a:lt1>
        <a:srgbClr val="FFFFFF"/>
      </a:lt1>
      <a:dk2>
        <a:srgbClr val="13201A"/>
      </a:dk2>
      <a:lt2>
        <a:srgbClr val="F6F8F6"/>
      </a:lt2>
      <a:accent1>
        <a:srgbClr val="0A6A42"/>
      </a:accent1>
      <a:accent2>
        <a:srgbClr val="E3A10E"/>
      </a:accent2>
      <a:accent3>
        <a:srgbClr val="CF2459"/>
      </a:accent3>
      <a:accent4>
        <a:srgbClr val="7F9CC4"/>
      </a:accent4>
      <a:accent5>
        <a:srgbClr val="58665F"/>
      </a:accent5>
      <a:accent6>
        <a:srgbClr val="D6DDD8"/>
      </a:accent6>
      <a:hlink>
        <a:srgbClr val="0A6A42"/>
      </a:hlink>
      <a:folHlink>
        <a:srgbClr val="07502F"/>
      </a:folHlink>
    </a:clrScheme>
    <a:fontScheme name="Rodovia I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A*: a fuga do Dr. Ricardo</dc:title>
  <dc:subject>PptxGenJS Presentation</dc:subject>
  <dc:creator>Cauet Nogueira, Gabriela Lira, Terence Luan</dc:creator>
  <cp:lastModifiedBy>Cauet Nogueira, Gabriela Lira, Terence Luan</cp:lastModifiedBy>
  <cp:revision>1</cp:revision>
  <dcterms:created xsi:type="dcterms:W3CDTF">2026-10-21T00:43:22Z</dcterms:created>
  <dcterms:modified xsi:type="dcterms:W3CDTF">2026-10-21T00:43:22Z</dcterms:modified>
</cp:coreProperties>
</file>