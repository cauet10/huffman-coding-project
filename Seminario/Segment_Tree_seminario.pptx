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Segunda parte: em vez de achar caminho, somar pedaços de um vetor muito rápido.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Muitas perguntas "quanto dá a soma de l até r?" com o vetor mudando no meio. Somar direto: consulta O(n). Prefixo: consulta O(1), mas cada alteração refaz tudo em O(n). A Segment Tree deixa as duas em O(log 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raiz cobre [0, n-1], cada nó divide seu intervalo ao meio e as folhas são os elementos. build O(n), update O(log n), query O(log 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Ler dois nós em voz alta: a raiz [0, 9] vale 47, a soma de tudo. O nó [3, 4] vale 8, que é 6 + 2. Todos os exemplos usam essa mesma árvore.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tree[4 × MAX] guarda a árvore. Filhos em 2·node + 1 e 2·node + 2, a mesma conta da heap do A*. 4n porque a árvore não é completa quando n não é potência de 2: com n = 10, o maior índice usado é 24. NEUTRO = 0 é o neutro da soma.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base: a folha recebe vet[l]. Senão divide ao meio, constrói os dois lados e soma na volta (pós-ordem). Cada nó uma vez: O(n). No GIF, os pais só acendem depois dos dois filhos.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update(0, 0, 9, 3, 10): desce [0, 9] → [0, 4] → [3, 4] → [3]. A folha vira 10 e na volta [3, 4] vira 12, [0, 4] vira 28 e a raiz 51. Só 4 dos 19 nós mudam: O(log 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query(0, 0, 9, 2, 7) = 28. Fora devolve 0 (cinza), dentro devolve pronto (verde), parcial desce (âmbar). Usa 3 somas prontas: [2] = 8, [3, 4] = 8 e [5, 7] = 12. Visita 9 nós.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Perguntas prováveis: por que 4n; por que query é O(log n); por que build é O(n); como fazer mínimo; atualização de intervalo inteiro (lazy propagation).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78638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7764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bg1"/>
                </a:solidFill>
              </a:rPr>
              <a:t>SEMINÁRIO · ESTRUTURAS DE DADOS / PROGRAMAÇÃO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Segment Tree</a:t>
            </a:r>
            <a:endParaRPr lang="en-US" sz="6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9776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Consultas e atualizações de intervalo em O(log n), com implementação em C</a:t>
            </a:r>
            <a:endParaRPr lang="en-US" sz="2200" dirty="0"/>
          </a:p>
        </p:txBody>
      </p:sp>
      <p:sp>
        <p:nvSpPr>
          <p:cNvPr id="5" name="Painel do grupo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Brasões da UFAL e do Instituto de Computaçã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640080"/>
            <a:ext cx="2377440" cy="1380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897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Cauet Nogueira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918972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cna@ic.ufal.br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18972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Gabriela Lira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9189720" y="4507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glzs@ic.ufal.br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Terence Luan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9189720" y="5376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6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tlsb@ic.ufal.br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126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Instituto de Computação · Universidade Federal de Alagoas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O PROBLEMA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Somar intervalos de um vetor que muda</a:t>
            </a:r>
            <a:endParaRPr lang="en-US" sz="3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749808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011680"/>
                <a:gridCol w="20116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Abordagem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Soma de [l, r]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Alterar vet[i]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6A4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5211B"/>
                          </a:solidFill>
                        </a:rPr>
                        <a:t>Somar direto no vetor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5211B"/>
                          </a:solidFill>
                        </a:rPr>
                        <a:t>O(n)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5211B"/>
                          </a:solidFill>
                        </a:rPr>
                        <a:t>O(1)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5211B"/>
                          </a:solidFill>
                        </a:rPr>
                        <a:t>Soma acumulada (prefixo)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5211B"/>
                          </a:solidFill>
                        </a:rPr>
                        <a:t>O(1)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5211B"/>
                          </a:solidFill>
                        </a:rPr>
                        <a:t>O(n)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15211B"/>
                          </a:solidFill>
                        </a:rPr>
                        <a:t>Segment Tree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A6A42"/>
                          </a:solidFill>
                        </a:rPr>
                        <a:t>O(log n)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0A6A42"/>
                          </a:solidFill>
                        </a:rPr>
                        <a:t>O(log n)</a:t>
                      </a:r>
                      <a:endParaRPr lang="en-US" sz="2000" dirty="0"/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tão"/>
          <p:cNvSpPr/>
          <p:nvPr/>
        </p:nvSpPr>
        <p:spPr>
          <a:xfrm>
            <a:off x="8412480" y="1737360"/>
            <a:ext cx="3200400" cy="2743200"/>
          </a:xfrm>
          <a:prstGeom prst="roundRect">
            <a:avLst>
              <a:gd name="adj" fmla="val 3333"/>
            </a:avLst>
          </a:prstGeom>
          <a:solidFill>
            <a:srgbClr val="EEF6F1"/>
          </a:solidFill>
          <a:ln w="12700">
            <a:solidFill>
              <a:srgbClr val="CFE5D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641080" y="192024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5211B"/>
                </a:solidFill>
              </a:rPr>
              <a:t>Com muitas consultas e muitas alterações, só a Segment Tree fica rápida nas duas.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O QUE É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Cada nó guarda a soma de um intervalo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6583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5211B"/>
                </a:solidFill>
              </a:rPr>
              <a:t>A raiz cobre o vetor inteiro [0, n - 1]</a:t>
            </a:r>
            <a:endParaRPr lang="en-US" sz="21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5211B"/>
                </a:solidFill>
              </a:rPr>
              <a:t>Cada nó divide seu intervalo ao meio: [l, mid] e [mid + 1, r]</a:t>
            </a:r>
            <a:endParaRPr lang="en-US" sz="21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5211B"/>
                </a:solidFill>
              </a:rPr>
              <a:t>As folhas são os elementos do vetor</a:t>
            </a:r>
            <a:endParaRPr lang="en-US" sz="21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5211B"/>
                </a:solidFill>
              </a:rPr>
              <a:t>Cada nó guarda a soma do seu intervalo</a:t>
            </a:r>
            <a:endParaRPr lang="en-US" sz="2100" dirty="0"/>
          </a:p>
        </p:txBody>
      </p:sp>
      <p:sp>
        <p:nvSpPr>
          <p:cNvPr id="6" name="Cartão"/>
          <p:cNvSpPr/>
          <p:nvPr/>
        </p:nvSpPr>
        <p:spPr>
          <a:xfrm>
            <a:off x="7589520" y="1737360"/>
            <a:ext cx="402336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17373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1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9418320" y="1737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A6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O(n)</a:t>
            </a:r>
            <a:endParaRPr lang="en-US" sz="3000" dirty="0"/>
          </a:p>
        </p:txBody>
      </p:sp>
      <p:sp>
        <p:nvSpPr>
          <p:cNvPr id="9" name="Cartão"/>
          <p:cNvSpPr/>
          <p:nvPr/>
        </p:nvSpPr>
        <p:spPr>
          <a:xfrm>
            <a:off x="7589520" y="3108960"/>
            <a:ext cx="402336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63840" y="31089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1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418320" y="3108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A6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O(log n)</a:t>
            </a:r>
            <a:endParaRPr lang="en-US" sz="3000" dirty="0"/>
          </a:p>
        </p:txBody>
      </p:sp>
      <p:sp>
        <p:nvSpPr>
          <p:cNvPr id="12" name="Cartão"/>
          <p:cNvSpPr/>
          <p:nvPr/>
        </p:nvSpPr>
        <p:spPr>
          <a:xfrm>
            <a:off x="7589520" y="4480560"/>
            <a:ext cx="402336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63840" y="448056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521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9418320" y="44805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A6A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O(log n)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O EXEMPLO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vet = 5 3 8 6 2 7 4 1 9 2</a:t>
            </a:r>
            <a:endParaRPr lang="en-US" sz="3400" dirty="0"/>
          </a:p>
        </p:txBody>
      </p:sp>
      <p:pic>
        <p:nvPicPr>
          <p:cNvPr id="5" name="Image 0" descr="Segment Tree do vetor 5 3 8 6 2 7 4 1 9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7534656" cy="4937760"/>
          </a:xfrm>
          <a:prstGeom prst="rect">
            <a:avLst/>
          </a:prstGeom>
        </p:spPr>
      </p:pic>
      <p:sp>
        <p:nvSpPr>
          <p:cNvPr id="6" name="Marcador 1"/>
          <p:cNvSpPr/>
          <p:nvPr/>
        </p:nvSpPr>
        <p:spPr>
          <a:xfrm>
            <a:off x="8412480" y="18470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4124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8869680" y="1792224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raiz [0, 9] vale 47, a soma do vetor inteiro.</a:t>
            </a:r>
            <a:endParaRPr lang="en-US" sz="1800" dirty="0"/>
          </a:p>
        </p:txBody>
      </p:sp>
      <p:sp>
        <p:nvSpPr>
          <p:cNvPr id="9" name="Marcador 2"/>
          <p:cNvSpPr/>
          <p:nvPr/>
        </p:nvSpPr>
        <p:spPr>
          <a:xfrm>
            <a:off x="8412480" y="27614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1248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869680" y="270662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 nó [3, 4] vale 8 = 6 + 2.</a:t>
            </a:r>
            <a:endParaRPr lang="en-US" sz="1800" dirty="0"/>
          </a:p>
        </p:txBody>
      </p:sp>
      <p:sp>
        <p:nvSpPr>
          <p:cNvPr id="12" name="Marcador 3"/>
          <p:cNvSpPr/>
          <p:nvPr/>
        </p:nvSpPr>
        <p:spPr>
          <a:xfrm>
            <a:off x="8412480" y="344728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412480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869680" y="3392424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São 19 nós para 10 elementos: cerca de 2n.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CÓDIGO · ARMAZENAMENTO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 árvore mora num vetor, igual à heap do A*</a:t>
            </a:r>
            <a:endParaRPr lang="en-US" sz="3400" dirty="0"/>
          </a:p>
        </p:txBody>
      </p:sp>
      <p:sp>
        <p:nvSpPr>
          <p:cNvPr id="5" name="Fundo do código"/>
          <p:cNvSpPr/>
          <p:nvPr/>
        </p:nvSpPr>
        <p:spPr>
          <a:xfrm>
            <a:off x="548640" y="1645920"/>
            <a:ext cx="5852160" cy="1280160"/>
          </a:xfrm>
          <a:prstGeom prst="roundRect">
            <a:avLst>
              <a:gd name="adj" fmla="val 8571"/>
            </a:avLst>
          </a:prstGeom>
          <a:solidFill>
            <a:srgbClr val="13201A"/>
          </a:solidFill>
          <a:ln w="12700">
            <a:solidFill>
              <a:srgbClr val="13201A"/>
            </a:solidFill>
            <a:prstDash val="solid"/>
          </a:ln>
        </p:spPr>
      </p:sp>
      <p:sp>
        <p:nvSpPr>
          <p:cNvPr id="6" name="Código"/>
          <p:cNvSpPr txBox="1"/>
          <p:nvPr/>
        </p:nvSpPr>
        <p:spPr>
          <a:xfrm>
            <a:off x="640080" y="1719072"/>
            <a:ext cx="5669280" cy="1133856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10010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NEUTRO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600" dirty="0"/>
          </a:p>
        </p:txBody>
      </p:sp>
      <p:sp>
        <p:nvSpPr>
          <p:cNvPr id="7" name="Cartão"/>
          <p:cNvSpPr/>
          <p:nvPr/>
        </p:nvSpPr>
        <p:spPr>
          <a:xfrm>
            <a:off x="548640" y="3200400"/>
            <a:ext cx="5852160" cy="1463040"/>
          </a:xfrm>
          <a:prstGeom prst="roundRect">
            <a:avLst>
              <a:gd name="adj" fmla="val 625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33375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conta da heap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947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8665F"/>
                </a:solidFill>
              </a:rPr>
              <a:t>O nó node tem filhos em 2·node + 1 e 2·node + 2. A raiz é o índice 0.</a:t>
            </a:r>
            <a:endParaRPr lang="en-US" sz="1700" dirty="0"/>
          </a:p>
        </p:txBody>
      </p:sp>
      <p:sp>
        <p:nvSpPr>
          <p:cNvPr id="10" name="Marcador 1"/>
          <p:cNvSpPr/>
          <p:nvPr/>
        </p:nvSpPr>
        <p:spPr>
          <a:xfrm>
            <a:off x="6858000" y="175564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0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315200" y="170078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vet é o vetor original e tree guarda as somas.</a:t>
            </a:r>
            <a:endParaRPr lang="en-US" sz="1800" dirty="0"/>
          </a:p>
        </p:txBody>
      </p:sp>
      <p:sp>
        <p:nvSpPr>
          <p:cNvPr id="13" name="Marcador 2"/>
          <p:cNvSpPr/>
          <p:nvPr/>
        </p:nvSpPr>
        <p:spPr>
          <a:xfrm>
            <a:off x="6858000" y="248716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0" y="24871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0" y="2432304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4 · MAX: a árvore não é completa quando n não é potência de 2. No exemplo, com n = 10, o maior índice usado é 24. 4n sempre cabe.</a:t>
            </a:r>
            <a:endParaRPr lang="en-US" sz="1800" dirty="0"/>
          </a:p>
        </p:txBody>
      </p:sp>
      <p:sp>
        <p:nvSpPr>
          <p:cNvPr id="16" name="Marcador 3"/>
          <p:cNvSpPr/>
          <p:nvPr/>
        </p:nvSpPr>
        <p:spPr>
          <a:xfrm>
            <a:off x="6858000" y="3950208"/>
            <a:ext cx="329184" cy="32918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0" y="3895344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NEUTRO = 0 é o elemento neutro da soma. Para mínimo ou máximo, troca-se a operação e o neutro.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CÓDIGO · BUILD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Monta de baixo para cima</a:t>
            </a:r>
            <a:endParaRPr lang="en-US" sz="3400" dirty="0"/>
          </a:p>
        </p:txBody>
      </p:sp>
      <p:sp>
        <p:nvSpPr>
          <p:cNvPr id="5" name="Fundo do código"/>
          <p:cNvSpPr/>
          <p:nvPr/>
        </p:nvSpPr>
        <p:spPr>
          <a:xfrm>
            <a:off x="548640" y="1554480"/>
            <a:ext cx="4937760" cy="3657600"/>
          </a:xfrm>
          <a:prstGeom prst="roundRect">
            <a:avLst>
              <a:gd name="adj" fmla="val 3000"/>
            </a:avLst>
          </a:prstGeom>
          <a:solidFill>
            <a:srgbClr val="13201A"/>
          </a:solidFill>
          <a:ln w="12700">
            <a:solidFill>
              <a:srgbClr val="13201A"/>
            </a:solidFill>
            <a:prstDash val="solid"/>
          </a:ln>
        </p:spPr>
      </p:sp>
      <p:sp>
        <p:nvSpPr>
          <p:cNvPr id="6" name="Código"/>
          <p:cNvSpPr txBox="1"/>
          <p:nvPr/>
        </p:nvSpPr>
        <p:spPr>
          <a:xfrm>
            <a:off x="640080" y="1627632"/>
            <a:ext cx="4754880" cy="3511296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949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11B"/>
                </a:solidFill>
              </a:rPr>
              <a:t>Folha: recebe vet[l]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11B"/>
                </a:solidFill>
              </a:rPr>
              <a:t>Senão: constrói os dois filhos e soma na volta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11B"/>
                </a:solidFill>
              </a:rPr>
              <a:t>Cada nó visitado uma vez: O(n)</a:t>
            </a:r>
            <a:endParaRPr lang="en-US" sz="1500" dirty="0"/>
          </a:p>
        </p:txBody>
      </p:sp>
      <p:pic>
        <p:nvPicPr>
          <p:cNvPr id="8" name="Image 0" descr="Animação do build montando a árvore de baixo para ci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554480"/>
            <a:ext cx="5669280" cy="37216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CÓDIGO · UPDATE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Desce até a folha e conserta a volta</a:t>
            </a:r>
            <a:endParaRPr lang="en-US" sz="3400" dirty="0"/>
          </a:p>
        </p:txBody>
      </p:sp>
      <p:sp>
        <p:nvSpPr>
          <p:cNvPr id="5" name="Fundo do código"/>
          <p:cNvSpPr/>
          <p:nvPr/>
        </p:nvSpPr>
        <p:spPr>
          <a:xfrm>
            <a:off x="548640" y="155448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3201A"/>
          </a:solidFill>
          <a:ln w="12700">
            <a:solidFill>
              <a:srgbClr val="13201A"/>
            </a:solidFill>
            <a:prstDash val="solid"/>
          </a:ln>
        </p:spPr>
      </p:sp>
      <p:sp>
        <p:nvSpPr>
          <p:cNvPr id="6" name="Código"/>
          <p:cNvSpPr txBox="1"/>
          <p:nvPr/>
        </p:nvSpPr>
        <p:spPr>
          <a:xfrm>
            <a:off x="640080" y="1627632"/>
            <a:ext cx="5029200" cy="4059936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897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11B"/>
                </a:solidFill>
              </a:rPr>
              <a:t>Desce só pelo lado que contém idx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11B"/>
                </a:solidFill>
              </a:rPr>
              <a:t>Na volta, recalcula cada nó do caminho: O(log n)</a:t>
            </a:r>
            <a:endParaRPr lang="en-US" sz="1500" dirty="0"/>
          </a:p>
        </p:txBody>
      </p:sp>
      <p:pic>
        <p:nvPicPr>
          <p:cNvPr id="8" name="Image 0" descr="Animação do update trocando vet[3] por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554480"/>
            <a:ext cx="5669280" cy="37216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CÓDIGO · QUERY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Três casos para cada nó</a:t>
            </a:r>
            <a:endParaRPr lang="en-US" sz="3400" dirty="0"/>
          </a:p>
        </p:txBody>
      </p:sp>
      <p:sp>
        <p:nvSpPr>
          <p:cNvPr id="5" name="Fundo do código"/>
          <p:cNvSpPr/>
          <p:nvPr/>
        </p:nvSpPr>
        <p:spPr>
          <a:xfrm>
            <a:off x="548640" y="1554480"/>
            <a:ext cx="5212080" cy="3749040"/>
          </a:xfrm>
          <a:prstGeom prst="roundRect">
            <a:avLst>
              <a:gd name="adj" fmla="val 2927"/>
            </a:avLst>
          </a:prstGeom>
          <a:solidFill>
            <a:srgbClr val="13201A"/>
          </a:solidFill>
          <a:ln w="12700">
            <a:solidFill>
              <a:srgbClr val="13201A"/>
            </a:solidFill>
            <a:prstDash val="solid"/>
          </a:ln>
        </p:spPr>
      </p:sp>
      <p:sp>
        <p:nvSpPr>
          <p:cNvPr id="6" name="Código"/>
          <p:cNvSpPr txBox="1"/>
          <p:nvPr/>
        </p:nvSpPr>
        <p:spPr>
          <a:xfrm>
            <a:off x="640080" y="1627632"/>
            <a:ext cx="5029200" cy="3602736"/>
          </a:xfrm>
          <a:prstGeom prst="rect">
            <a:avLst/>
          </a:prstGeom>
          <a:noFill/>
          <a:ln/>
        </p:spPr>
        <p:txBody>
          <a:bodyPr wrap="square" lIns="76200" tIns="101600" rIns="101600" bIns="762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||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NEUTRO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&amp;&amp;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/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7FD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soma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1C5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4A0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3EC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5495544"/>
            <a:ext cx="237744" cy="237744"/>
          </a:xfrm>
          <a:prstGeom prst="ellipse">
            <a:avLst/>
          </a:prstGeom>
          <a:solidFill>
            <a:srgbClr val="9AA5A0"/>
          </a:solidFill>
          <a:ln w="12700">
            <a:solidFill>
              <a:srgbClr val="9AA5A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5440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11B"/>
                </a:solidFill>
              </a:rPr>
              <a:t>Fora: devolve 0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5879592"/>
            <a:ext cx="237744" cy="237744"/>
          </a:xfrm>
          <a:prstGeom prst="ellipse">
            <a:avLst/>
          </a:prstGeom>
          <a:solidFill>
            <a:srgbClr val="0A6A42"/>
          </a:solidFill>
          <a:ln w="12700">
            <a:solidFill>
              <a:srgbClr val="0A6A4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58247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11B"/>
                </a:solidFill>
              </a:rPr>
              <a:t>Dentro: devolve a soma pronta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6263640"/>
            <a:ext cx="237744" cy="237744"/>
          </a:xfrm>
          <a:prstGeom prst="ellipse">
            <a:avLst/>
          </a:prstGeom>
          <a:solidFill>
            <a:srgbClr val="E3A10E"/>
          </a:solidFill>
          <a:ln w="12700">
            <a:solidFill>
              <a:srgbClr val="E3A10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62087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11B"/>
                </a:solidFill>
              </a:rPr>
              <a:t>Parcial: pergunta aos dois filhos</a:t>
            </a:r>
            <a:endParaRPr lang="en-US" sz="1500" dirty="0"/>
          </a:p>
        </p:txBody>
      </p:sp>
      <p:pic>
        <p:nvPicPr>
          <p:cNvPr id="13" name="Image 0" descr="Animação da query somando o intervalo de 2 a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554480"/>
            <a:ext cx="5669280" cy="37216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8665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a SEG"/>
          <p:cNvSpPr/>
          <p:nvPr/>
        </p:nvSpPr>
        <p:spPr>
          <a:xfrm>
            <a:off x="640080" y="1325880"/>
            <a:ext cx="1005840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25400">
            <a:solidFill>
              <a:srgbClr val="15211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325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1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0116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Perguntas?</a:t>
            </a:r>
            <a:endParaRPr lang="en-US" sz="6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9776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Guardando somas parciais numa árvore, a consulta e a alteração passam de O(n) para O(log n).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dovia IC">
  <a:themeElements>
    <a:clrScheme name="Rodovia IC">
      <a:dk1>
        <a:srgbClr val="15211B"/>
      </a:dk1>
      <a:lt1>
        <a:srgbClr val="FFFFFF"/>
      </a:lt1>
      <a:dk2>
        <a:srgbClr val="13201A"/>
      </a:dk2>
      <a:lt2>
        <a:srgbClr val="F6F8F6"/>
      </a:lt2>
      <a:accent1>
        <a:srgbClr val="0A6A42"/>
      </a:accent1>
      <a:accent2>
        <a:srgbClr val="E3A10E"/>
      </a:accent2>
      <a:accent3>
        <a:srgbClr val="CF2459"/>
      </a:accent3>
      <a:accent4>
        <a:srgbClr val="7F9CC4"/>
      </a:accent4>
      <a:accent5>
        <a:srgbClr val="58665F"/>
      </a:accent5>
      <a:accent6>
        <a:srgbClr val="D6DDD8"/>
      </a:accent6>
      <a:hlink>
        <a:srgbClr val="0A6A42"/>
      </a:hlink>
      <a:folHlink>
        <a:srgbClr val="07502F"/>
      </a:folHlink>
    </a:clrScheme>
    <a:fontScheme name="Rodovia IC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Segment Tree</dc:title>
  <dc:subject>PptxGenJS Presentation</dc:subject>
  <dc:creator>Cauet Nogueira, Gabriela Lira, Terence Luan</dc:creator>
  <cp:lastModifiedBy>Cauet Nogueira, Gabriela Lira, Terence Luan</cp:lastModifiedBy>
  <cp:revision>1</cp:revision>
  <dcterms:created xsi:type="dcterms:W3CDTF">2026-10-21T00:46:47Z</dcterms:created>
  <dcterms:modified xsi:type="dcterms:W3CDTF">2026-10-21T00:46:47Z</dcterms:modified>
</cp:coreProperties>
</file>